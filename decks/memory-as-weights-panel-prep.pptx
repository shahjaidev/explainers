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 id="{5c0337e9-d2dd-e604-d8e9-16ff84c81d00}">
          <p14:sldIdLst>
            <p14:sldId id="256"/>
            <p14:sldId id="257"/>
          </p14:sldIdLst>
        </p14:section>
        <p14:section name="Landscape" id="{9ec91af3-cdf8-76ef-e583-2c70c6574d5f}">
          <p14:sldIdLst>
            <p14:sldId id="258"/>
            <p14:sldId id="259"/>
            <p14:sldId id="260"/>
          </p14:sldIdLst>
        </p14:section>
        <p14:section name="Round 1" id="{46b9f630-4b93-794a-f250-5862c9102757}">
          <p14:sldIdLst>
            <p14:sldId id="261"/>
            <p14:sldId id="262"/>
            <p14:sldId id="263"/>
          </p14:sldIdLst>
        </p14:section>
        <p14:section name="Round 2" id="{b20c75a1-5c1e-87e6-20ce-774149aa500d}">
          <p14:sldIdLst>
            <p14:sldId id="264"/>
            <p14:sldId id="265"/>
            <p14:sldId id="266"/>
            <p14:sldId id="267"/>
          </p14:sldIdLst>
        </p14:section>
        <p14:section name="Round 3" id="{7feea795-df7a-4cf6-d532-89e81e57b1d9}">
          <p14:sldIdLst>
            <p14:sldId id="268"/>
            <p14:sldId id="269"/>
            <p14:sldId id="270"/>
          </p14:sldIdLst>
        </p14:section>
        <p14:section name="Close" id="{b0783138-de0c-8ec2-1ed5-ebda842e37e8}">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purpose: prep + talking points. Panel is 30 min, 3 rounds x 8 min, A/B picks per round, audience votes. Send A/B picks to Zidi before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says: pick A or B, personal take, use as springboard. Audience votes after each round, so a clear stance helps. Caveat on Round 1 is what makes the memory story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Karpathy/Dwarkesh framing: Llama 3 70B trained on 15T tokens stores ~0.07 bits per token in weights, whereas the KV cache stores every token at full detail (~320KB per token). Weights are lossy compression of the world; context is lossless but ephemeral. External memory sits between.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answer Round 1 Q1 'what's newly possible'. Dates: TTT-E2E arXiv 2512.23675 (Dec 2025); Nested Learning NeurIPS 2025, arXiv 2512.24695; ChatGPT ads test Feb 9 2026; Claude Chat Memory all plans Mar 2 2026; Dreaming announced Code with Claude May 6 2026; Gemini Live memory Jun 18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1 Q2 'what's next': continual learning. Distinguish three things that get conflated: (1) RSI = models improving the training pipeline, happening now at labs; (2) continual learning = the deployed model updating from experience, mostly in token space today; (3) memory = persistence without learning. Founders over-trust (2) and under-use (3).
Q4 founders over-trusting or under-using: both. Over-trust the model's one-shot judgment; under-use cheap memory + eval loops that would make it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research refs: TTT-E2E arXiv 2512.23675: 3B models, 164B tokens, updates only the MLP layers in the last quarter of the network per chunk; scales with context like full attention while Mamba 2 and Gated DeltaNet do not; constant latency, 2.7x faster than full attention at 128K. Nested Learning (Behrouz et al., Google, NeurIPS 2025): optimizers and architectures as nested optimization problems; Hope = self-modifying Titans + Continuum Memory System where memory blocks update at different frequencies, so no single update wipes everything. 'Learning on the Job' arXiv 2607.22157; 'When Continual Learning Moves to Memory' arXiv 2604.27003 (external memory relocates the problem to retrieval budget); 'Modular Memory is the Key to Continual Learning Agents' arXiv 2603.01761 (combine in-weight and in-context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2 Q1 directly. Also Q3 'tokens cheaper, bills growing': memory is the reason. Agents re-read history; full-context costs 25K+ tokens per call vs ~7K with a memory layer (Mem0 numbers on LongMemEval: 93.4%, LoCoMo: 91.6%). Cost-aware eval ('When Does Memory Help?', arXiv 2609.05441) shows memory only pays when retrieval is budgeted. Bills grow because tasks got longer, not because tokens got dearer.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DeepMind specifically: speak only to published work (Titans, Nested Learning / Hope by Behrouz et al.) and say personal views. Memoir (arXiv 2607.20792) asks whether a model should write to memory while it thinks. Federated Nested Learning (2605.16350) trains self-referential memories collaboratively for test-time adaptation.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2 Q2 picking a model: quality, cost, speed, stability. Add 'memory compatibility': does the model follow memory notes faithfully, and does its tokenizer/context cost make your retrieval budget work. Q4 harness-model fit eval: run the same memory benchmark (LongMemEval-V2, BEAM up to 10M tokens) across model x harness pairs; note LoCoMo's answer key fails audit at 6.4% and LLM judges accept 62.8% of deliberately wrong answers, so build your own eval from real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3 Q3 directly. Q2 who manages context: product by default, user by right; the product curates, the user can override and export. Reference OpenAI ads principles and Sponsored Agents as Brenda's lane; stay on design, not on OpenAI's policy specifics.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3 Q1 and Q5. Q4 assistants as the front door for apps: yes, and memory is the doorman. Whoever holds the memory decides which app gets surfaced. That is why the store location is a business-model question, not a storage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Alternative bet if you want it safer: 'Memory portability becomes a product category: by spring someone ships the password manager for your AI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1418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4630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566160"/>
            <a:ext cx="10058400" cy="146304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SECTION">
    <p:bg>
      <p:bgPr>
        <a:solidFill>
          <a:srgbClr val="1418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731520" y="3794760"/>
            <a:ext cx="10058400" cy="128016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77724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64008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Jaidev Shah · Frontier Models in Production · Oct 5, 2026</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463040"/>
          </a:xfrm>
          <a:prstGeom prst="rect">
            <a:avLst/>
          </a:prstGeom>
          <a:noFill/>
          <a:ln/>
        </p:spPr>
        <p:txBody>
          <a:bodyPr wrap="square" lIns="0" tIns="0" rIns="0" bIns="0" rtlCol="0"/>
          <a:lstStyle/>
          <a:p>
            <a:pPr algn="l" indent="0" marL="0">
              <a:buNone/>
            </a:pPr>
            <a:r>
              <a:rPr lang="en-US" sz="4800" b="1" dirty="0">
                <a:solidFill>
                  <a:schemeClr val="bg1"/>
                </a:solidFill>
              </a:rPr>
              <a:t>Memory as Weights</a:t>
            </a:r>
            <a:endParaRPr lang="en-US" sz="4800" dirty="0"/>
          </a:p>
        </p:txBody>
      </p:sp>
      <p:sp>
        <p:nvSpPr>
          <p:cNvPr id="3" name="Text 0"/>
          <p:cNvSpPr/>
          <p:nvPr>
            <p:ph idx="101" type="body" hasCustomPrompt="1"/>
          </p:nvPr>
        </p:nvSpPr>
        <p:spPr>
          <a:xfrm>
            <a:off x="731520" y="3566160"/>
            <a:ext cx="10058400" cy="1463040"/>
          </a:xfrm>
          <a:prstGeom prst="rect">
            <a:avLst/>
          </a:prstGeom>
          <a:noFill/>
          <a:ln/>
        </p:spPr>
        <p:txBody>
          <a:bodyPr wrap="square" lIns="0" tIns="0" rIns="0" bIns="0" rtlCol="0"/>
          <a:lstStyle/>
          <a:p>
            <a:pPr algn="l" indent="0" marL="0">
              <a:buNone/>
            </a:pPr>
            <a:r>
              <a:rPr lang="en-US" sz="2000" dirty="0">
                <a:solidFill>
                  <a:schemeClr val="accent6"/>
                </a:solidFill>
              </a:rPr>
              <a:t>Panel prep: Frontier Models in Production · Codex Community Meetup · Mon Oct 5, 2026</a:t>
            </a:r>
            <a:endParaRPr lang="en-US" sz="2000" dirty="0"/>
          </a:p>
          <a:p>
            <a:pPr algn="l" indent="0" marL="0">
              <a:buNone/>
            </a:pPr>
            <a:r>
              <a:rPr lang="en-US" sz="2000" dirty="0">
                <a:solidFill>
                  <a:schemeClr val="accent6"/>
                </a:solidFill>
              </a:rPr>
              <a:t>Jaidev Shah · Google DeepMind (personal views, not Google's)</a:t>
            </a:r>
            <a:endParaRPr lang="en-US" sz="2000" dirty="0"/>
          </a:p>
        </p:txBody>
      </p:sp>
      <p:sp>
        <p:nvSpPr>
          <p:cNvPr id="4" name="rounds"/>
          <p:cNvSpPr txBox="1"/>
          <p:nvPr/>
        </p:nvSpPr>
        <p:spPr>
          <a:xfrm>
            <a:off x="731520" y="5760720"/>
            <a:ext cx="10698480" cy="457200"/>
          </a:xfrm>
          <a:prstGeom prst="rect">
            <a:avLst/>
          </a:prstGeom>
          <a:noFill/>
          <a:ln/>
        </p:spPr>
        <p:txBody>
          <a:bodyPr wrap="square" lIns="0" tIns="0" rIns="0" bIns="0" rtlCol="0" anchor="ctr"/>
          <a:lstStyle/>
          <a:p>
            <a:pPr indent="0" marL="0">
              <a:buNone/>
            </a:pPr>
            <a:r>
              <a:rPr lang="en-US" sz="1300" dirty="0">
                <a:solidFill>
                  <a:schemeClr val="accent5"/>
                </a:solidFill>
              </a:rPr>
              <a:t>Round 1 · continual learning  |  Round 2 · memory inside vs. outside the model  |  Round 3 · memory for help vs. ads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777240"/>
          </a:xfrm>
          <a:prstGeom prst="rect">
            <a:avLst/>
          </a:prstGeom>
          <a:noFill/>
          <a:ln/>
        </p:spPr>
        <p:txBody>
          <a:bodyPr wrap="square" lIns="0" tIns="0" rIns="0" bIns="0" rtlCol="0"/>
          <a:lstStyle/>
          <a:p>
            <a:pPr algn="l" indent="0" marL="0">
              <a:buNone/>
            </a:pPr>
            <a:r>
              <a:rPr lang="en-US" sz="2600" b="1" dirty="0">
                <a:solidFill>
                  <a:schemeClr val="tx1"/>
                </a:solidFill>
              </a:rPr>
              <a:t>Warm-up line and my A/B picks</a:t>
            </a:r>
            <a:endParaRPr lang="en-US" sz="2600" dirty="0"/>
          </a:p>
        </p:txBody>
      </p:sp>
      <p:sp>
        <p:nvSpPr>
          <p:cNvPr id="3" name="intro box"/>
          <p:cNvSpPr/>
          <p:nvPr/>
        </p:nvSpPr>
        <p:spPr>
          <a:xfrm>
            <a:off x="640080" y="1371600"/>
            <a:ext cx="10881360" cy="1051560"/>
          </a:xfrm>
          <a:prstGeom prst="roundRect">
            <a:avLst>
              <a:gd name="adj" fmla="val 10435"/>
            </a:avLst>
          </a:prstGeom>
          <a:solidFill>
            <a:srgbClr val="14181F"/>
          </a:solidFill>
          <a:ln w="12700">
            <a:solidFill>
              <a:srgbClr val="14181F"/>
            </a:solidFill>
            <a:prstDash val="solid"/>
          </a:ln>
        </p:spPr>
      </p:sp>
      <p:sp>
        <p:nvSpPr>
          <p:cNvPr id="4" name="intro text"/>
          <p:cNvSpPr txBox="1"/>
          <p:nvPr/>
        </p:nvSpPr>
        <p:spPr>
          <a:xfrm>
            <a:off x="868680" y="1463040"/>
            <a:ext cx="10424160" cy="868680"/>
          </a:xfrm>
          <a:prstGeom prst="rect">
            <a:avLst/>
          </a:prstGeom>
          <a:noFill/>
          <a:ln/>
        </p:spPr>
        <p:txBody>
          <a:bodyPr wrap="square" lIns="0" tIns="0" rIns="0" bIns="0" rtlCol="0" anchor="ctr"/>
          <a:lstStyle/>
          <a:p>
            <a:pPr indent="0" marL="0">
              <a:buNone/>
            </a:pPr>
            <a:r>
              <a:rPr lang="en-US" sz="1500" b="1" dirty="0">
                <a:solidFill>
                  <a:schemeClr val="accent4"/>
                </a:solidFill>
              </a:rPr>
              <a:t>Warm-up (2 sentences): </a:t>
            </a:r>
            <a:pPr indent="0" marL="0">
              <a:buNone/>
            </a:pPr>
            <a:r>
              <a:rPr lang="en-US" sz="1500" dirty="0">
                <a:solidFill>
                  <a:schemeClr val="bg1"/>
                </a:solidFill>
              </a:rPr>
              <a:t>"I'm Jaidev, at Google DeepMind. I work on how models remember: the line between what lives in the context window, what lives in an external store, and what gets baked into the weights, and how that changes what a product can be."</a:t>
            </a:r>
            <a:endParaRPr lang="en-US" sz="1500" dirty="0"/>
          </a:p>
        </p:txBody>
      </p:sp>
      <p:sp>
        <p:nvSpPr>
          <p:cNvPr id="5" name="pick card 0"/>
          <p:cNvSpPr/>
          <p:nvPr/>
        </p:nvSpPr>
        <p:spPr>
          <a:xfrm>
            <a:off x="640080" y="2697480"/>
            <a:ext cx="3474720" cy="2606040"/>
          </a:xfrm>
          <a:prstGeom prst="roundRect">
            <a:avLst>
              <a:gd name="adj" fmla="val 4211"/>
            </a:avLst>
          </a:prstGeom>
          <a:solidFill>
            <a:srgbClr val="F1EEE8"/>
          </a:solidFill>
          <a:ln w="12700">
            <a:solidFill>
              <a:srgbClr val="F1EEE8"/>
            </a:solidFill>
            <a:prstDash val="solid"/>
          </a:ln>
        </p:spPr>
      </p:sp>
      <p:sp>
        <p:nvSpPr>
          <p:cNvPr id="6" name="pick head 0"/>
          <p:cNvSpPr txBox="1"/>
          <p:nvPr/>
        </p:nvSpPr>
        <p:spPr>
          <a:xfrm>
            <a:off x="868680" y="2834640"/>
            <a:ext cx="3017520" cy="365760"/>
          </a:xfrm>
          <a:prstGeom prst="rect">
            <a:avLst/>
          </a:prstGeom>
          <a:noFill/>
          <a:ln/>
        </p:spPr>
        <p:txBody>
          <a:bodyPr wrap="square" lIns="0" tIns="0" rIns="0" bIns="0" rtlCol="0" anchor="ctr"/>
          <a:lstStyle/>
          <a:p>
            <a:pPr indent="0" marL="0">
              <a:buNone/>
            </a:pPr>
            <a:r>
              <a:rPr lang="en-US" sz="1500" b="1" dirty="0">
                <a:solidFill>
                  <a:schemeClr val="accent1"/>
                </a:solidFill>
              </a:rPr>
              <a:t>Round 1 · How fast?</a:t>
            </a:r>
            <a:endParaRPr lang="en-US" sz="1500" dirty="0"/>
          </a:p>
        </p:txBody>
      </p:sp>
      <p:sp>
        <p:nvSpPr>
          <p:cNvPr id="7" name="pick 0"/>
          <p:cNvSpPr txBox="1"/>
          <p:nvPr/>
        </p:nvSpPr>
        <p:spPr>
          <a:xfrm>
            <a:off x="868680" y="3200400"/>
            <a:ext cx="3017520" cy="320040"/>
          </a:xfrm>
          <a:prstGeom prst="rect">
            <a:avLst/>
          </a:prstGeom>
          <a:noFill/>
          <a:ln/>
        </p:spPr>
        <p:txBody>
          <a:bodyPr wrap="square" lIns="0" tIns="0" rIns="0" bIns="0" rtlCol="0" anchor="ctr"/>
          <a:lstStyle/>
          <a:p>
            <a:pPr indent="0" marL="0">
              <a:buNone/>
            </a:pPr>
            <a:r>
              <a:rPr lang="en-US" sz="1300" b="1" dirty="0">
                <a:solidFill>
                  <a:schemeClr val="accent2"/>
                </a:solidFill>
              </a:rPr>
              <a:t>Lean A, with a caveat</a:t>
            </a:r>
            <a:endParaRPr lang="en-US" sz="1300" dirty="0"/>
          </a:p>
        </p:txBody>
      </p:sp>
      <p:sp>
        <p:nvSpPr>
          <p:cNvPr id="8" name="pick body 0"/>
          <p:cNvSpPr txBox="1"/>
          <p:nvPr/>
        </p:nvSpPr>
        <p:spPr>
          <a:xfrm>
            <a:off x="868680" y="3611880"/>
            <a:ext cx="3017520" cy="1600200"/>
          </a:xfrm>
          <a:prstGeom prst="rect">
            <a:avLst/>
          </a:prstGeom>
          <a:noFill/>
          <a:ln/>
        </p:spPr>
        <p:txBody>
          <a:bodyPr wrap="square" lIns="0" tIns="0" rIns="0" bIns="0" rtlCol="0" anchor="t"/>
          <a:lstStyle/>
          <a:p>
            <a:pPr indent="0" marL="0">
              <a:buNone/>
            </a:pPr>
            <a:r>
              <a:rPr lang="en-US" sz="1250" dirty="0">
                <a:solidFill>
                  <a:schemeClr val="tx1"/>
                </a:solidFill>
              </a:rPr>
              <a:t>Models are a step change at the capability frontier. The gap is memory and continual learning: a model that forgets you is a demo, not a colleague.</a:t>
            </a:r>
            <a:endParaRPr lang="en-US" sz="1250" dirty="0"/>
          </a:p>
        </p:txBody>
      </p:sp>
      <p:sp>
        <p:nvSpPr>
          <p:cNvPr id="9" name="pick card 1"/>
          <p:cNvSpPr/>
          <p:nvPr/>
        </p:nvSpPr>
        <p:spPr>
          <a:xfrm>
            <a:off x="4343400" y="2697480"/>
            <a:ext cx="3474720" cy="2606040"/>
          </a:xfrm>
          <a:prstGeom prst="roundRect">
            <a:avLst>
              <a:gd name="adj" fmla="val 4211"/>
            </a:avLst>
          </a:prstGeom>
          <a:solidFill>
            <a:srgbClr val="F1EEE8"/>
          </a:solidFill>
          <a:ln w="12700">
            <a:solidFill>
              <a:srgbClr val="F1EEE8"/>
            </a:solidFill>
            <a:prstDash val="solid"/>
          </a:ln>
        </p:spPr>
      </p:sp>
      <p:sp>
        <p:nvSpPr>
          <p:cNvPr id="10" name="pick head 1"/>
          <p:cNvSpPr txBox="1"/>
          <p:nvPr/>
        </p:nvSpPr>
        <p:spPr>
          <a:xfrm>
            <a:off x="4572000" y="2834640"/>
            <a:ext cx="3017520" cy="365760"/>
          </a:xfrm>
          <a:prstGeom prst="rect">
            <a:avLst/>
          </a:prstGeom>
          <a:noFill/>
          <a:ln/>
        </p:spPr>
        <p:txBody>
          <a:bodyPr wrap="square" lIns="0" tIns="0" rIns="0" bIns="0" rtlCol="0" anchor="ctr"/>
          <a:lstStyle/>
          <a:p>
            <a:pPr indent="0" marL="0">
              <a:buNone/>
            </a:pPr>
            <a:r>
              <a:rPr lang="en-US" sz="1500" b="1" dirty="0">
                <a:solidFill>
                  <a:schemeClr val="accent1"/>
                </a:solidFill>
              </a:rPr>
              <a:t>Round 2 · Model or system</a:t>
            </a:r>
            <a:endParaRPr lang="en-US" sz="1500" dirty="0"/>
          </a:p>
        </p:txBody>
      </p:sp>
      <p:sp>
        <p:nvSpPr>
          <p:cNvPr id="11" name="pick 1"/>
          <p:cNvSpPr txBox="1"/>
          <p:nvPr/>
        </p:nvSpPr>
        <p:spPr>
          <a:xfrm>
            <a:off x="4572000" y="3200400"/>
            <a:ext cx="3017520" cy="320040"/>
          </a:xfrm>
          <a:prstGeom prst="rect">
            <a:avLst/>
          </a:prstGeom>
          <a:noFill/>
          <a:ln/>
        </p:spPr>
        <p:txBody>
          <a:bodyPr wrap="square" lIns="0" tIns="0" rIns="0" bIns="0" rtlCol="0" anchor="ctr"/>
          <a:lstStyle/>
          <a:p>
            <a:pPr indent="0" marL="0">
              <a:buNone/>
            </a:pPr>
            <a:r>
              <a:rPr lang="en-US" sz="1300" b="1" dirty="0">
                <a:solidFill>
                  <a:schemeClr val="accent2"/>
                </a:solidFill>
              </a:rPr>
              <a:t>B today, A over time</a:t>
            </a:r>
            <a:endParaRPr lang="en-US" sz="1300" dirty="0"/>
          </a:p>
        </p:txBody>
      </p:sp>
      <p:sp>
        <p:nvSpPr>
          <p:cNvPr id="12" name="pick body 1"/>
          <p:cNvSpPr txBox="1"/>
          <p:nvPr/>
        </p:nvSpPr>
        <p:spPr>
          <a:xfrm>
            <a:off x="4572000" y="3611880"/>
            <a:ext cx="3017520" cy="1600200"/>
          </a:xfrm>
          <a:prstGeom prst="rect">
            <a:avLst/>
          </a:prstGeom>
          <a:noFill/>
          <a:ln/>
        </p:spPr>
        <p:txBody>
          <a:bodyPr wrap="square" lIns="0" tIns="0" rIns="0" bIns="0" rtlCol="0" anchor="t"/>
          <a:lstStyle/>
          <a:p>
            <a:pPr indent="0" marL="0">
              <a:buNone/>
            </a:pPr>
            <a:r>
              <a:rPr lang="en-US" sz="1250" dirty="0">
                <a:solidFill>
                  <a:schemeClr val="tx1"/>
                </a:solidFill>
              </a:rPr>
              <a:t>The system wins now because memory must update live, auditably, per user. Over 3 to 5 years the winning stack trains the system's learnings back into weights.</a:t>
            </a:r>
            <a:endParaRPr lang="en-US" sz="1250" dirty="0"/>
          </a:p>
        </p:txBody>
      </p:sp>
      <p:sp>
        <p:nvSpPr>
          <p:cNvPr id="13" name="pick card 2"/>
          <p:cNvSpPr/>
          <p:nvPr/>
        </p:nvSpPr>
        <p:spPr>
          <a:xfrm>
            <a:off x="8046720" y="2697480"/>
            <a:ext cx="3474720" cy="2606040"/>
          </a:xfrm>
          <a:prstGeom prst="roundRect">
            <a:avLst>
              <a:gd name="adj" fmla="val 4211"/>
            </a:avLst>
          </a:prstGeom>
          <a:solidFill>
            <a:srgbClr val="F1EEE8"/>
          </a:solidFill>
          <a:ln w="12700">
            <a:solidFill>
              <a:srgbClr val="F1EEE8"/>
            </a:solidFill>
            <a:prstDash val="solid"/>
          </a:ln>
        </p:spPr>
      </p:sp>
      <p:sp>
        <p:nvSpPr>
          <p:cNvPr id="14" name="pick head 2"/>
          <p:cNvSpPr txBox="1"/>
          <p:nvPr/>
        </p:nvSpPr>
        <p:spPr>
          <a:xfrm>
            <a:off x="8275320" y="2834640"/>
            <a:ext cx="3017520" cy="365760"/>
          </a:xfrm>
          <a:prstGeom prst="rect">
            <a:avLst/>
          </a:prstGeom>
          <a:noFill/>
          <a:ln/>
        </p:spPr>
        <p:txBody>
          <a:bodyPr wrap="square" lIns="0" tIns="0" rIns="0" bIns="0" rtlCol="0" anchor="ctr"/>
          <a:lstStyle/>
          <a:p>
            <a:pPr indent="0" marL="0">
              <a:buNone/>
            </a:pPr>
            <a:r>
              <a:rPr lang="en-US" sz="1500" b="1" dirty="0">
                <a:solidFill>
                  <a:schemeClr val="accent1"/>
                </a:solidFill>
              </a:rPr>
              <a:t>Round 3 · Who runs it?</a:t>
            </a:r>
            <a:endParaRPr lang="en-US" sz="1500" dirty="0"/>
          </a:p>
        </p:txBody>
      </p:sp>
      <p:sp>
        <p:nvSpPr>
          <p:cNvPr id="15" name="pick 2"/>
          <p:cNvSpPr txBox="1"/>
          <p:nvPr/>
        </p:nvSpPr>
        <p:spPr>
          <a:xfrm>
            <a:off x="8275320" y="3200400"/>
            <a:ext cx="3017520" cy="320040"/>
          </a:xfrm>
          <a:prstGeom prst="rect">
            <a:avLst/>
          </a:prstGeom>
          <a:noFill/>
          <a:ln/>
        </p:spPr>
        <p:txBody>
          <a:bodyPr wrap="square" lIns="0" tIns="0" rIns="0" bIns="0" rtlCol="0" anchor="ctr"/>
          <a:lstStyle/>
          <a:p>
            <a:pPr indent="0" marL="0">
              <a:buNone/>
            </a:pPr>
            <a:r>
              <a:rPr lang="en-US" sz="1300" b="1" dirty="0">
                <a:solidFill>
                  <a:schemeClr val="accent2"/>
                </a:solidFill>
              </a:rPr>
              <a:t>B, with an A-shaped future</a:t>
            </a:r>
            <a:endParaRPr lang="en-US" sz="1300" dirty="0"/>
          </a:p>
        </p:txBody>
      </p:sp>
      <p:sp>
        <p:nvSpPr>
          <p:cNvPr id="16" name="pick body 2"/>
          <p:cNvSpPr txBox="1"/>
          <p:nvPr/>
        </p:nvSpPr>
        <p:spPr>
          <a:xfrm>
            <a:off x="8275320" y="3611880"/>
            <a:ext cx="3017520" cy="1600200"/>
          </a:xfrm>
          <a:prstGeom prst="rect">
            <a:avLst/>
          </a:prstGeom>
          <a:noFill/>
          <a:ln/>
        </p:spPr>
        <p:txBody>
          <a:bodyPr wrap="square" lIns="0" tIns="0" rIns="0" bIns="0" rtlCol="0" anchor="t"/>
          <a:lstStyle/>
          <a:p>
            <a:pPr indent="0" marL="0">
              <a:buNone/>
            </a:pPr>
            <a:r>
              <a:rPr lang="en-US" sz="1250" dirty="0">
                <a:solidFill>
                  <a:schemeClr val="tx1"/>
                </a:solidFill>
              </a:rPr>
              <a:t>Personal memory should be user-owned and portable. Ad-funded memory is coming anyway, so the design question is consent and separation of memory for help vs. memory for ads.</a:t>
            </a:r>
            <a:endParaRPr lang="en-US" sz="1250" dirty="0"/>
          </a:p>
        </p:txBody>
      </p:sp>
      <p:sp>
        <p:nvSpPr>
          <p:cNvPr id="17" name="talk strip"/>
          <p:cNvSpPr/>
          <p:nvPr/>
        </p:nvSpPr>
        <p:spPr>
          <a:xfrm>
            <a:off x="640080" y="5532120"/>
            <a:ext cx="10881360" cy="731520"/>
          </a:xfrm>
          <a:prstGeom prst="roundRect">
            <a:avLst>
              <a:gd name="adj" fmla="val 12500"/>
            </a:avLst>
          </a:prstGeom>
          <a:solidFill>
            <a:srgbClr val="FDE4D3"/>
          </a:solidFill>
          <a:ln w="12700">
            <a:solidFill>
              <a:srgbClr val="FDE4D3"/>
            </a:solidFill>
            <a:prstDash val="solid"/>
          </a:ln>
        </p:spPr>
      </p:sp>
      <p:sp>
        <p:nvSpPr>
          <p:cNvPr id="18" name="talk text"/>
          <p:cNvSpPr txBox="1"/>
          <p:nvPr/>
        </p:nvSpPr>
        <p:spPr>
          <a:xfrm>
            <a:off x="822960" y="5577840"/>
            <a:ext cx="10515600" cy="640080"/>
          </a:xfrm>
          <a:prstGeom prst="rect">
            <a:avLst/>
          </a:prstGeom>
          <a:noFill/>
          <a:ln/>
        </p:spPr>
        <p:txBody>
          <a:bodyPr wrap="square" lIns="0" tIns="0" rIns="0" bIns="0" rtlCol="0" anchor="ctr"/>
          <a:lstStyle/>
          <a:p>
            <a:pPr indent="0" marL="0">
              <a:buNone/>
            </a:pPr>
            <a:r>
              <a:rPr lang="en-US" sz="1300" b="1" i="1" dirty="0">
                <a:solidFill>
                  <a:schemeClr val="accent1"/>
                </a:solidFill>
              </a:rPr>
              <a:t>Say: </a:t>
            </a:r>
            <a:pPr indent="0" marL="0">
              <a:buNone/>
            </a:pPr>
            <a:r>
              <a:rPr lang="en-US" sz="1300" i="1" dirty="0">
                <a:solidFill>
                  <a:schemeClr val="tx1"/>
                </a:solidFill>
              </a:rPr>
              <a:t>Picks are personal takes, not DeepMind positions. Each pick is a springboard into one story, not a debate position to defend to the death.</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lstStyle/>
          <a:p>
            <a:pPr algn="l" indent="0" marL="0">
              <a:buNone/>
            </a:pPr>
            <a:r>
              <a:rPr lang="en-US" sz="3800" b="1" dirty="0">
                <a:solidFill>
                  <a:schemeClr val="bg1"/>
                </a:solidFill>
              </a:rPr>
              <a:t>Where memory lives: three substrates</a:t>
            </a:r>
            <a:endParaRPr lang="en-US" sz="3800" dirty="0"/>
          </a:p>
        </p:txBody>
      </p:sp>
      <p:sp>
        <p:nvSpPr>
          <p:cNvPr id="3" name="Text 0"/>
          <p:cNvSpPr/>
          <p:nvPr>
            <p:ph idx="101" type="body" hasCustomPrompt="1"/>
          </p:nvPr>
        </p:nvSpPr>
        <p:spPr>
          <a:xfrm>
            <a:off x="731520" y="3794760"/>
            <a:ext cx="10058400" cy="1280160"/>
          </a:xfrm>
          <a:prstGeom prst="rect">
            <a:avLst/>
          </a:prstGeom>
          <a:noFill/>
          <a:ln/>
        </p:spPr>
        <p:txBody>
          <a:bodyPr wrap="square" lIns="0" tIns="0" rIns="0" bIns="0" rtlCol="0"/>
          <a:lstStyle/>
          <a:p>
            <a:pPr algn="l" indent="0" marL="0">
              <a:buNone/>
            </a:pPr>
            <a:r>
              <a:rPr lang="en-US" sz="2000" dirty="0">
                <a:solidFill>
                  <a:schemeClr val="accent6"/>
                </a:solidFill>
              </a:rPr>
              <a:t>Context (working memory) · External store (notes, vectors, graphs) · Weights (parametric). Every product in 2026 is a bet on how to split across these.</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777240"/>
          </a:xfrm>
          <a:prstGeom prst="rect">
            <a:avLst/>
          </a:prstGeom>
          <a:noFill/>
          <a:ln/>
        </p:spPr>
        <p:txBody>
          <a:bodyPr wrap="square" lIns="0" tIns="0" rIns="0" bIns="0" rtlCol="0"/>
          <a:lstStyle/>
          <a:p>
            <a:pPr algn="l" indent="0" marL="0">
              <a:buNone/>
            </a:pPr>
            <a:r>
              <a:rPr lang="en-US" sz="2600" b="1" dirty="0">
                <a:solidFill>
                  <a:schemeClr val="tx1"/>
                </a:solidFill>
              </a:rPr>
              <a:t>Three places to remember, three different trade-offs</a:t>
            </a:r>
            <a:endParaRPr lang="en-US" sz="2600" dirty="0"/>
          </a:p>
        </p:txBody>
      </p:sp>
      <p:sp>
        <p:nvSpPr>
          <p:cNvPr id="3" name="col 0"/>
          <p:cNvSpPr/>
          <p:nvPr/>
        </p:nvSpPr>
        <p:spPr>
          <a:xfrm>
            <a:off x="640080" y="1371600"/>
            <a:ext cx="3474720" cy="4023360"/>
          </a:xfrm>
          <a:prstGeom prst="roundRect">
            <a:avLst>
              <a:gd name="adj" fmla="val 3158"/>
            </a:avLst>
          </a:prstGeom>
          <a:solidFill>
            <a:srgbClr val="F1EEE8"/>
          </a:solidFill>
          <a:ln w="12700">
            <a:solidFill>
              <a:srgbClr val="F1EEE8"/>
            </a:solidFill>
            <a:prstDash val="solid"/>
          </a:ln>
        </p:spPr>
      </p:sp>
      <p:sp>
        <p:nvSpPr>
          <p:cNvPr id="4" name="dot 0"/>
          <p:cNvSpPr/>
          <p:nvPr/>
        </p:nvSpPr>
        <p:spPr>
          <a:xfrm>
            <a:off x="868680" y="1554480"/>
            <a:ext cx="384048" cy="384048"/>
          </a:xfrm>
          <a:prstGeom prst="ellipse">
            <a:avLst/>
          </a:prstGeom>
          <a:solidFill>
            <a:srgbClr val="0F766E"/>
          </a:solidFill>
          <a:ln w="12700">
            <a:solidFill>
              <a:srgbClr val="0F766E"/>
            </a:solidFill>
            <a:prstDash val="solid"/>
          </a:ln>
        </p:spPr>
      </p:sp>
      <p:sp>
        <p:nvSpPr>
          <p:cNvPr id="5" name="num 0"/>
          <p:cNvSpPr txBox="1"/>
          <p:nvPr/>
        </p:nvSpPr>
        <p:spPr>
          <a:xfrm>
            <a:off x="868680" y="15544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colhead 0"/>
          <p:cNvSpPr txBox="1"/>
          <p:nvPr/>
        </p:nvSpPr>
        <p:spPr>
          <a:xfrm>
            <a:off x="1371600" y="1554480"/>
            <a:ext cx="2560320" cy="384048"/>
          </a:xfrm>
          <a:prstGeom prst="rect">
            <a:avLst/>
          </a:prstGeom>
          <a:noFill/>
          <a:ln/>
        </p:spPr>
        <p:txBody>
          <a:bodyPr wrap="square" lIns="0" tIns="0" rIns="0" bIns="0" rtlCol="0" anchor="ctr"/>
          <a:lstStyle/>
          <a:p>
            <a:pPr indent="0" marL="0">
              <a:buNone/>
            </a:pPr>
            <a:r>
              <a:rPr lang="en-US" sz="1800" b="1" dirty="0">
                <a:solidFill>
                  <a:schemeClr val="tx1"/>
                </a:solidFill>
              </a:rPr>
              <a:t>In context</a:t>
            </a:r>
            <a:endParaRPr lang="en-US" sz="1800" dirty="0"/>
          </a:p>
        </p:txBody>
      </p:sp>
      <p:sp>
        <p:nvSpPr>
          <p:cNvPr id="7" name="who 0"/>
          <p:cNvSpPr txBox="1"/>
          <p:nvPr/>
        </p:nvSpPr>
        <p:spPr>
          <a:xfrm>
            <a:off x="868680" y="2057400"/>
            <a:ext cx="3017520" cy="685800"/>
          </a:xfrm>
          <a:prstGeom prst="rect">
            <a:avLst/>
          </a:prstGeom>
          <a:noFill/>
          <a:ln/>
        </p:spPr>
        <p:txBody>
          <a:bodyPr wrap="square" lIns="0" tIns="0" rIns="0" bIns="0" rtlCol="0" anchor="t"/>
          <a:lstStyle/>
          <a:p>
            <a:pPr indent="0" marL="0">
              <a:buNone/>
            </a:pPr>
            <a:r>
              <a:rPr lang="en-US" sz="1100" i="1" dirty="0">
                <a:solidFill>
                  <a:schemeClr val="tx2"/>
                </a:solidFill>
              </a:rPr>
              <a:t>KV cache, 1M+ token windows (Gemini, Kimi K3, DeepSeek V4)</a:t>
            </a:r>
            <a:endParaRPr lang="en-US" sz="1100" dirty="0"/>
          </a:p>
        </p:txBody>
      </p:sp>
      <p:sp>
        <p:nvSpPr>
          <p:cNvPr id="8" name="pro h 0"/>
          <p:cNvSpPr txBox="1"/>
          <p:nvPr/>
        </p:nvSpPr>
        <p:spPr>
          <a:xfrm>
            <a:off x="868680" y="2743200"/>
            <a:ext cx="1828800" cy="274320"/>
          </a:xfrm>
          <a:prstGeom prst="rect">
            <a:avLst/>
          </a:prstGeom>
          <a:noFill/>
          <a:ln/>
        </p:spPr>
        <p:txBody>
          <a:bodyPr wrap="square" lIns="0" tIns="0" rIns="0" bIns="0" rtlCol="0" anchor="ctr"/>
          <a:lstStyle/>
          <a:p>
            <a:pPr indent="0" marL="0">
              <a:buNone/>
            </a:pPr>
            <a:r>
              <a:rPr lang="en-US" sz="1200" b="1" dirty="0">
                <a:solidFill>
                  <a:schemeClr val="accent3"/>
                </a:solidFill>
              </a:rPr>
              <a:t>Strengths</a:t>
            </a:r>
            <a:endParaRPr lang="en-US" sz="1200" dirty="0"/>
          </a:p>
        </p:txBody>
      </p:sp>
      <p:sp>
        <p:nvSpPr>
          <p:cNvPr id="9" name="pro 0"/>
          <p:cNvSpPr txBox="1"/>
          <p:nvPr/>
        </p:nvSpPr>
        <p:spPr>
          <a:xfrm>
            <a:off x="868680" y="3017520"/>
            <a:ext cx="3017520" cy="1051560"/>
          </a:xfrm>
          <a:prstGeom prst="rect">
            <a:avLst/>
          </a:prstGeom>
          <a:noFill/>
          <a:ln/>
        </p:spPr>
        <p:txBody>
          <a:bodyPr wrap="square" lIns="0" tIns="0" rIns="0" bIns="0" rtlCol="0" anchor="t"/>
          <a:lstStyle/>
          <a:p>
            <a:pPr marL="342900" indent="-342900">
              <a:spcAft>
                <a:spcPts val="200"/>
              </a:spcAft>
              <a:buSzPct val="100000"/>
              <a:buChar char="•"/>
            </a:pPr>
            <a:r>
              <a:rPr lang="en-US" sz="1150" dirty="0">
                <a:solidFill>
                  <a:schemeClr val="tx1"/>
                </a:solidFill>
              </a:rPr>
              <a:t>Lossless: every token at full detail</a:t>
            </a:r>
            <a:endParaRPr lang="en-US" sz="1150" dirty="0"/>
          </a:p>
          <a:p>
            <a:pPr marL="342900" indent="-342900">
              <a:spcAft>
                <a:spcPts val="200"/>
              </a:spcAft>
              <a:buSzPct val="100000"/>
              <a:buChar char="•"/>
            </a:pPr>
            <a:r>
              <a:rPr lang="en-US" sz="1150" dirty="0">
                <a:solidFill>
                  <a:schemeClr val="tx1"/>
                </a:solidFill>
              </a:rPr>
              <a:t>Zero training, instant to update</a:t>
            </a:r>
            <a:endParaRPr lang="en-US" sz="1150" dirty="0"/>
          </a:p>
          <a:p>
            <a:pPr marL="342900" indent="-342900">
              <a:spcAft>
                <a:spcPts val="200"/>
              </a:spcAft>
              <a:buSzPct val="100000"/>
              <a:buChar char="•"/>
            </a:pPr>
            <a:r>
              <a:rPr lang="en-US" sz="1150" dirty="0">
                <a:solidFill>
                  <a:schemeClr val="tx1"/>
                </a:solidFill>
              </a:rPr>
              <a:t>Fully inspectable</a:t>
            </a:r>
            <a:endParaRPr lang="en-US" sz="1150" dirty="0"/>
          </a:p>
        </p:txBody>
      </p:sp>
      <p:sp>
        <p:nvSpPr>
          <p:cNvPr id="10" name="con h 0"/>
          <p:cNvSpPr txBox="1"/>
          <p:nvPr/>
        </p:nvSpPr>
        <p:spPr>
          <a:xfrm>
            <a:off x="868680" y="4069080"/>
            <a:ext cx="1828800" cy="274320"/>
          </a:xfrm>
          <a:prstGeom prst="rect">
            <a:avLst/>
          </a:prstGeom>
          <a:noFill/>
          <a:ln/>
        </p:spPr>
        <p:txBody>
          <a:bodyPr wrap="square" lIns="0" tIns="0" rIns="0" bIns="0" rtlCol="0" anchor="ctr"/>
          <a:lstStyle/>
          <a:p>
            <a:pPr indent="0" marL="0">
              <a:buNone/>
            </a:pPr>
            <a:r>
              <a:rPr lang="en-US" sz="1200" b="1" dirty="0">
                <a:solidFill>
                  <a:schemeClr val="accent1"/>
                </a:solidFill>
              </a:rPr>
              <a:t>Weaknesses</a:t>
            </a:r>
            <a:endParaRPr lang="en-US" sz="1200" dirty="0"/>
          </a:p>
        </p:txBody>
      </p:sp>
      <p:sp>
        <p:nvSpPr>
          <p:cNvPr id="11" name="con 0"/>
          <p:cNvSpPr txBox="1"/>
          <p:nvPr/>
        </p:nvSpPr>
        <p:spPr>
          <a:xfrm>
            <a:off x="868680" y="4343400"/>
            <a:ext cx="3017520" cy="1051560"/>
          </a:xfrm>
          <a:prstGeom prst="rect">
            <a:avLst/>
          </a:prstGeom>
          <a:noFill/>
          <a:ln/>
        </p:spPr>
        <p:txBody>
          <a:bodyPr wrap="square" lIns="0" tIns="0" rIns="0" bIns="0" rtlCol="0" anchor="t"/>
          <a:lstStyle/>
          <a:p>
            <a:pPr marL="342900" indent="-342900">
              <a:spcAft>
                <a:spcPts val="200"/>
              </a:spcAft>
              <a:buSzPct val="100000"/>
              <a:buChar char="•"/>
            </a:pPr>
            <a:r>
              <a:rPr lang="en-US" sz="1150" dirty="0">
                <a:solidFill>
                  <a:schemeClr val="tx1"/>
                </a:solidFill>
              </a:rPr>
              <a:t>Wiped at session end</a:t>
            </a:r>
            <a:endParaRPr lang="en-US" sz="1150" dirty="0"/>
          </a:p>
          <a:p>
            <a:pPr marL="342900" indent="-342900">
              <a:spcAft>
                <a:spcPts val="200"/>
              </a:spcAft>
              <a:buSzPct val="100000"/>
              <a:buChar char="•"/>
            </a:pPr>
            <a:r>
              <a:rPr lang="en-US" sz="1150" dirty="0">
                <a:solidFill>
                  <a:schemeClr val="tx1"/>
                </a:solidFill>
              </a:rPr>
              <a:t>Attention is &gt;90% of the forward pass at 1M tokens</a:t>
            </a:r>
            <a:endParaRPr lang="en-US" sz="1150" dirty="0"/>
          </a:p>
          <a:p>
            <a:pPr marL="342900" indent="-342900">
              <a:spcAft>
                <a:spcPts val="200"/>
              </a:spcAft>
              <a:buSzPct val="100000"/>
              <a:buChar char="•"/>
            </a:pPr>
            <a:r>
              <a:rPr lang="en-US" sz="1150" dirty="0">
                <a:solidFill>
                  <a:schemeClr val="tx1"/>
                </a:solidFill>
              </a:rPr>
              <a:t>Long-context recall still degrades</a:t>
            </a:r>
            <a:endParaRPr lang="en-US" sz="1150" dirty="0"/>
          </a:p>
        </p:txBody>
      </p:sp>
      <p:sp>
        <p:nvSpPr>
          <p:cNvPr id="12" name="col 1"/>
          <p:cNvSpPr/>
          <p:nvPr/>
        </p:nvSpPr>
        <p:spPr>
          <a:xfrm>
            <a:off x="4343400" y="1371600"/>
            <a:ext cx="3474720" cy="4023360"/>
          </a:xfrm>
          <a:prstGeom prst="roundRect">
            <a:avLst>
              <a:gd name="adj" fmla="val 3158"/>
            </a:avLst>
          </a:prstGeom>
          <a:solidFill>
            <a:srgbClr val="F1EEE8"/>
          </a:solidFill>
          <a:ln w="12700">
            <a:solidFill>
              <a:srgbClr val="F1EEE8"/>
            </a:solidFill>
            <a:prstDash val="solid"/>
          </a:ln>
        </p:spPr>
      </p:sp>
      <p:sp>
        <p:nvSpPr>
          <p:cNvPr id="13" name="dot 1"/>
          <p:cNvSpPr/>
          <p:nvPr/>
        </p:nvSpPr>
        <p:spPr>
          <a:xfrm>
            <a:off x="4572000" y="1554480"/>
            <a:ext cx="384048" cy="384048"/>
          </a:xfrm>
          <a:prstGeom prst="ellipse">
            <a:avLst/>
          </a:prstGeom>
          <a:solidFill>
            <a:srgbClr val="7C3AED"/>
          </a:solidFill>
          <a:ln w="12700">
            <a:solidFill>
              <a:srgbClr val="7C3AED"/>
            </a:solidFill>
            <a:prstDash val="solid"/>
          </a:ln>
        </p:spPr>
      </p:sp>
      <p:sp>
        <p:nvSpPr>
          <p:cNvPr id="14" name="num 1"/>
          <p:cNvSpPr txBox="1"/>
          <p:nvPr/>
        </p:nvSpPr>
        <p:spPr>
          <a:xfrm>
            <a:off x="4572000" y="15544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colhead 1"/>
          <p:cNvSpPr txBox="1"/>
          <p:nvPr/>
        </p:nvSpPr>
        <p:spPr>
          <a:xfrm>
            <a:off x="5074920" y="1554480"/>
            <a:ext cx="2560320" cy="384048"/>
          </a:xfrm>
          <a:prstGeom prst="rect">
            <a:avLst/>
          </a:prstGeom>
          <a:noFill/>
          <a:ln/>
        </p:spPr>
        <p:txBody>
          <a:bodyPr wrap="square" lIns="0" tIns="0" rIns="0" bIns="0" rtlCol="0" anchor="ctr"/>
          <a:lstStyle/>
          <a:p>
            <a:pPr indent="0" marL="0">
              <a:buNone/>
            </a:pPr>
            <a:r>
              <a:rPr lang="en-US" sz="1800" b="1" dirty="0">
                <a:solidFill>
                  <a:schemeClr val="tx1"/>
                </a:solidFill>
              </a:rPr>
              <a:t>In an external store</a:t>
            </a:r>
            <a:endParaRPr lang="en-US" sz="1800" dirty="0"/>
          </a:p>
        </p:txBody>
      </p:sp>
      <p:sp>
        <p:nvSpPr>
          <p:cNvPr id="16" name="who 1"/>
          <p:cNvSpPr txBox="1"/>
          <p:nvPr/>
        </p:nvSpPr>
        <p:spPr>
          <a:xfrm>
            <a:off x="4572000" y="2057400"/>
            <a:ext cx="3017520" cy="685800"/>
          </a:xfrm>
          <a:prstGeom prst="rect">
            <a:avLst/>
          </a:prstGeom>
          <a:noFill/>
          <a:ln/>
        </p:spPr>
        <p:txBody>
          <a:bodyPr wrap="square" lIns="0" tIns="0" rIns="0" bIns="0" rtlCol="0" anchor="t"/>
          <a:lstStyle/>
          <a:p>
            <a:pPr indent="0" marL="0">
              <a:buNone/>
            </a:pPr>
            <a:r>
              <a:rPr lang="en-US" sz="1100" i="1" dirty="0">
                <a:solidFill>
                  <a:schemeClr val="tx2"/>
                </a:solidFill>
              </a:rPr>
              <a:t>ChatGPT / Claude / Gemini memory; Mem0, Letta, Zep; Claude Managed Agents memory + Dreaming</a:t>
            </a:r>
            <a:endParaRPr lang="en-US" sz="1100" dirty="0"/>
          </a:p>
        </p:txBody>
      </p:sp>
      <p:sp>
        <p:nvSpPr>
          <p:cNvPr id="17" name="pro h 1"/>
          <p:cNvSpPr txBox="1"/>
          <p:nvPr/>
        </p:nvSpPr>
        <p:spPr>
          <a:xfrm>
            <a:off x="4572000" y="2743200"/>
            <a:ext cx="1828800" cy="274320"/>
          </a:xfrm>
          <a:prstGeom prst="rect">
            <a:avLst/>
          </a:prstGeom>
          <a:noFill/>
          <a:ln/>
        </p:spPr>
        <p:txBody>
          <a:bodyPr wrap="square" lIns="0" tIns="0" rIns="0" bIns="0" rtlCol="0" anchor="ctr"/>
          <a:lstStyle/>
          <a:p>
            <a:pPr indent="0" marL="0">
              <a:buNone/>
            </a:pPr>
            <a:r>
              <a:rPr lang="en-US" sz="1200" b="1" dirty="0">
                <a:solidFill>
                  <a:schemeClr val="accent3"/>
                </a:solidFill>
              </a:rPr>
              <a:t>Strengths</a:t>
            </a:r>
            <a:endParaRPr lang="en-US" sz="1200" dirty="0"/>
          </a:p>
        </p:txBody>
      </p:sp>
      <p:sp>
        <p:nvSpPr>
          <p:cNvPr id="18" name="pro 1"/>
          <p:cNvSpPr txBox="1"/>
          <p:nvPr/>
        </p:nvSpPr>
        <p:spPr>
          <a:xfrm>
            <a:off x="4572000" y="3017520"/>
            <a:ext cx="3017520" cy="1051560"/>
          </a:xfrm>
          <a:prstGeom prst="rect">
            <a:avLst/>
          </a:prstGeom>
          <a:noFill/>
          <a:ln/>
        </p:spPr>
        <p:txBody>
          <a:bodyPr wrap="square" lIns="0" tIns="0" rIns="0" bIns="0" rtlCol="0" anchor="t"/>
          <a:lstStyle/>
          <a:p>
            <a:pPr marL="342900" indent="-342900">
              <a:spcAft>
                <a:spcPts val="200"/>
              </a:spcAft>
              <a:buSzPct val="100000"/>
              <a:buChar char="•"/>
            </a:pPr>
            <a:r>
              <a:rPr lang="en-US" sz="1150" dirty="0">
                <a:solidFill>
                  <a:schemeClr val="tx1"/>
                </a:solidFill>
              </a:rPr>
              <a:t>Persists across sessions and models</a:t>
            </a:r>
            <a:endParaRPr lang="en-US" sz="1150" dirty="0"/>
          </a:p>
          <a:p>
            <a:pPr marL="342900" indent="-342900">
              <a:spcAft>
                <a:spcPts val="200"/>
              </a:spcAft>
              <a:buSzPct val="100000"/>
              <a:buChar char="•"/>
            </a:pPr>
            <a:r>
              <a:rPr lang="en-US" sz="1150" dirty="0">
                <a:solidFill>
                  <a:schemeClr val="tx1"/>
                </a:solidFill>
              </a:rPr>
              <a:t>Human-readable: edit, delete</a:t>
            </a:r>
            <a:endParaRPr lang="en-US" sz="1150" dirty="0"/>
          </a:p>
          <a:p>
            <a:pPr marL="342900" indent="-342900">
              <a:spcAft>
                <a:spcPts val="200"/>
              </a:spcAft>
              <a:buSzPct val="100000"/>
              <a:buChar char="•"/>
            </a:pPr>
            <a:r>
              <a:rPr lang="en-US" sz="1150" dirty="0">
                <a:solidFill>
                  <a:schemeClr val="tx1"/>
                </a:solidFill>
              </a:rPr>
              <a:t>~7K tokens/call vs 25K+ full-context</a:t>
            </a:r>
            <a:endParaRPr lang="en-US" sz="1150" dirty="0"/>
          </a:p>
        </p:txBody>
      </p:sp>
      <p:sp>
        <p:nvSpPr>
          <p:cNvPr id="19" name="con h 1"/>
          <p:cNvSpPr txBox="1"/>
          <p:nvPr/>
        </p:nvSpPr>
        <p:spPr>
          <a:xfrm>
            <a:off x="4572000" y="4069080"/>
            <a:ext cx="1828800" cy="274320"/>
          </a:xfrm>
          <a:prstGeom prst="rect">
            <a:avLst/>
          </a:prstGeom>
          <a:noFill/>
          <a:ln/>
        </p:spPr>
        <p:txBody>
          <a:bodyPr wrap="square" lIns="0" tIns="0" rIns="0" bIns="0" rtlCol="0" anchor="ctr"/>
          <a:lstStyle/>
          <a:p>
            <a:pPr indent="0" marL="0">
              <a:buNone/>
            </a:pPr>
            <a:r>
              <a:rPr lang="en-US" sz="1200" b="1" dirty="0">
                <a:solidFill>
                  <a:schemeClr val="accent1"/>
                </a:solidFill>
              </a:rPr>
              <a:t>Weaknesses</a:t>
            </a:r>
            <a:endParaRPr lang="en-US" sz="1200" dirty="0"/>
          </a:p>
        </p:txBody>
      </p:sp>
      <p:sp>
        <p:nvSpPr>
          <p:cNvPr id="20" name="con 1"/>
          <p:cNvSpPr txBox="1"/>
          <p:nvPr/>
        </p:nvSpPr>
        <p:spPr>
          <a:xfrm>
            <a:off x="4572000" y="4343400"/>
            <a:ext cx="3017520" cy="1051560"/>
          </a:xfrm>
          <a:prstGeom prst="rect">
            <a:avLst/>
          </a:prstGeom>
          <a:noFill/>
          <a:ln/>
        </p:spPr>
        <p:txBody>
          <a:bodyPr wrap="square" lIns="0" tIns="0" rIns="0" bIns="0" rtlCol="0" anchor="t"/>
          <a:lstStyle/>
          <a:p>
            <a:pPr marL="342900" indent="-342900">
              <a:spcAft>
                <a:spcPts val="200"/>
              </a:spcAft>
              <a:buSzPct val="100000"/>
              <a:buChar char="•"/>
            </a:pPr>
            <a:r>
              <a:rPr lang="en-US" sz="1150" dirty="0">
                <a:solidFill>
                  <a:schemeClr val="tx1"/>
                </a:solidFill>
              </a:rPr>
              <a:t>Retrieval is the new bottleneck</a:t>
            </a:r>
            <a:endParaRPr lang="en-US" sz="1150" dirty="0"/>
          </a:p>
          <a:p>
            <a:pPr marL="342900" indent="-342900">
              <a:spcAft>
                <a:spcPts val="200"/>
              </a:spcAft>
              <a:buSzPct val="100000"/>
              <a:buChar char="•"/>
            </a:pPr>
            <a:r>
              <a:rPr lang="en-US" sz="1150" dirty="0">
                <a:solidFill>
                  <a:schemeClr val="tx1"/>
                </a:solidFill>
              </a:rPr>
              <a:t>Staleness and contradictions</a:t>
            </a:r>
            <a:endParaRPr lang="en-US" sz="1150" dirty="0"/>
          </a:p>
          <a:p>
            <a:pPr marL="342900" indent="-342900">
              <a:spcAft>
                <a:spcPts val="200"/>
              </a:spcAft>
              <a:buSzPct val="100000"/>
              <a:buChar char="•"/>
            </a:pPr>
            <a:r>
              <a:rPr lang="en-US" sz="1150" dirty="0">
                <a:solidFill>
                  <a:schemeClr val="tx1"/>
                </a:solidFill>
              </a:rPr>
              <a:t>Poisoning: OWASP ASI06</a:t>
            </a:r>
            <a:endParaRPr lang="en-US" sz="1150" dirty="0"/>
          </a:p>
        </p:txBody>
      </p:sp>
      <p:sp>
        <p:nvSpPr>
          <p:cNvPr id="21" name="col 2"/>
          <p:cNvSpPr/>
          <p:nvPr/>
        </p:nvSpPr>
        <p:spPr>
          <a:xfrm>
            <a:off x="8046720" y="1371600"/>
            <a:ext cx="3474720" cy="4023360"/>
          </a:xfrm>
          <a:prstGeom prst="roundRect">
            <a:avLst>
              <a:gd name="adj" fmla="val 3158"/>
            </a:avLst>
          </a:prstGeom>
          <a:solidFill>
            <a:srgbClr val="F1EEE8"/>
          </a:solidFill>
          <a:ln w="12700">
            <a:solidFill>
              <a:srgbClr val="F1EEE8"/>
            </a:solidFill>
            <a:prstDash val="solid"/>
          </a:ln>
        </p:spPr>
      </p:sp>
      <p:sp>
        <p:nvSpPr>
          <p:cNvPr id="22" name="dot 2"/>
          <p:cNvSpPr/>
          <p:nvPr/>
        </p:nvSpPr>
        <p:spPr>
          <a:xfrm>
            <a:off x="8275320" y="1554480"/>
            <a:ext cx="384048" cy="384048"/>
          </a:xfrm>
          <a:prstGeom prst="ellipse">
            <a:avLst/>
          </a:prstGeom>
          <a:solidFill>
            <a:srgbClr val="C2410C"/>
          </a:solidFill>
          <a:ln w="12700">
            <a:solidFill>
              <a:srgbClr val="C2410C"/>
            </a:solidFill>
            <a:prstDash val="solid"/>
          </a:ln>
        </p:spPr>
      </p:sp>
      <p:sp>
        <p:nvSpPr>
          <p:cNvPr id="23" name="num 2"/>
          <p:cNvSpPr txBox="1"/>
          <p:nvPr/>
        </p:nvSpPr>
        <p:spPr>
          <a:xfrm>
            <a:off x="8275320" y="15544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colhead 2"/>
          <p:cNvSpPr txBox="1"/>
          <p:nvPr/>
        </p:nvSpPr>
        <p:spPr>
          <a:xfrm>
            <a:off x="8778240" y="1554480"/>
            <a:ext cx="2560320" cy="384048"/>
          </a:xfrm>
          <a:prstGeom prst="rect">
            <a:avLst/>
          </a:prstGeom>
          <a:noFill/>
          <a:ln/>
        </p:spPr>
        <p:txBody>
          <a:bodyPr wrap="square" lIns="0" tIns="0" rIns="0" bIns="0" rtlCol="0" anchor="ctr"/>
          <a:lstStyle/>
          <a:p>
            <a:pPr indent="0" marL="0">
              <a:buNone/>
            </a:pPr>
            <a:r>
              <a:rPr lang="en-US" sz="1800" b="1" dirty="0">
                <a:solidFill>
                  <a:schemeClr val="tx1"/>
                </a:solidFill>
              </a:rPr>
              <a:t>In the weights</a:t>
            </a:r>
            <a:endParaRPr lang="en-US" sz="1800" dirty="0"/>
          </a:p>
        </p:txBody>
      </p:sp>
      <p:sp>
        <p:nvSpPr>
          <p:cNvPr id="25" name="who 2"/>
          <p:cNvSpPr txBox="1"/>
          <p:nvPr/>
        </p:nvSpPr>
        <p:spPr>
          <a:xfrm>
            <a:off x="8275320" y="2057400"/>
            <a:ext cx="3017520" cy="685800"/>
          </a:xfrm>
          <a:prstGeom prst="rect">
            <a:avLst/>
          </a:prstGeom>
          <a:noFill/>
          <a:ln/>
        </p:spPr>
        <p:txBody>
          <a:bodyPr wrap="square" lIns="0" tIns="0" rIns="0" bIns="0" rtlCol="0" anchor="t"/>
          <a:lstStyle/>
          <a:p>
            <a:pPr indent="0" marL="0">
              <a:buNone/>
            </a:pPr>
            <a:r>
              <a:rPr lang="en-US" sz="1100" i="1" dirty="0">
                <a:solidFill>
                  <a:schemeClr val="tx2"/>
                </a:solidFill>
              </a:rPr>
              <a:t>Fine-tuning, per-user LoRA, model editing, test-time training (TTT-E2E, Titans, Hope)</a:t>
            </a:r>
            <a:endParaRPr lang="en-US" sz="1100" dirty="0"/>
          </a:p>
        </p:txBody>
      </p:sp>
      <p:sp>
        <p:nvSpPr>
          <p:cNvPr id="26" name="pro h 2"/>
          <p:cNvSpPr txBox="1"/>
          <p:nvPr/>
        </p:nvSpPr>
        <p:spPr>
          <a:xfrm>
            <a:off x="8275320" y="2743200"/>
            <a:ext cx="1828800" cy="274320"/>
          </a:xfrm>
          <a:prstGeom prst="rect">
            <a:avLst/>
          </a:prstGeom>
          <a:noFill/>
          <a:ln/>
        </p:spPr>
        <p:txBody>
          <a:bodyPr wrap="square" lIns="0" tIns="0" rIns="0" bIns="0" rtlCol="0" anchor="ctr"/>
          <a:lstStyle/>
          <a:p>
            <a:pPr indent="0" marL="0">
              <a:buNone/>
            </a:pPr>
            <a:r>
              <a:rPr lang="en-US" sz="1200" b="1" dirty="0">
                <a:solidFill>
                  <a:schemeClr val="accent3"/>
                </a:solidFill>
              </a:rPr>
              <a:t>Strengths</a:t>
            </a:r>
            <a:endParaRPr lang="en-US" sz="1200" dirty="0"/>
          </a:p>
        </p:txBody>
      </p:sp>
      <p:sp>
        <p:nvSpPr>
          <p:cNvPr id="27" name="pro 2"/>
          <p:cNvSpPr txBox="1"/>
          <p:nvPr/>
        </p:nvSpPr>
        <p:spPr>
          <a:xfrm>
            <a:off x="8275320" y="3017520"/>
            <a:ext cx="3017520" cy="1051560"/>
          </a:xfrm>
          <a:prstGeom prst="rect">
            <a:avLst/>
          </a:prstGeom>
          <a:noFill/>
          <a:ln/>
        </p:spPr>
        <p:txBody>
          <a:bodyPr wrap="square" lIns="0" tIns="0" rIns="0" bIns="0" rtlCol="0" anchor="t"/>
          <a:lstStyle/>
          <a:p>
            <a:pPr marL="342900" indent="-342900">
              <a:spcAft>
                <a:spcPts val="200"/>
              </a:spcAft>
              <a:buSzPct val="100000"/>
              <a:buChar char="•"/>
            </a:pPr>
            <a:r>
              <a:rPr lang="en-US" sz="1150" dirty="0">
                <a:solidFill>
                  <a:schemeClr val="tx1"/>
                </a:solidFill>
              </a:rPr>
              <a:t>Compounds every forward pass</a:t>
            </a:r>
            <a:endParaRPr lang="en-US" sz="1150" dirty="0"/>
          </a:p>
          <a:p>
            <a:pPr marL="342900" indent="-342900">
              <a:spcAft>
                <a:spcPts val="200"/>
              </a:spcAft>
              <a:buSzPct val="100000"/>
              <a:buChar char="•"/>
            </a:pPr>
            <a:r>
              <a:rPr lang="en-US" sz="1150" dirty="0">
                <a:solidFill>
                  <a:schemeClr val="tx1"/>
                </a:solidFill>
              </a:rPr>
              <a:t>Constant latency, any history</a:t>
            </a:r>
            <a:endParaRPr lang="en-US" sz="1150" dirty="0"/>
          </a:p>
          <a:p>
            <a:pPr marL="342900" indent="-342900">
              <a:spcAft>
                <a:spcPts val="200"/>
              </a:spcAft>
              <a:buSzPct val="100000"/>
              <a:buChar char="•"/>
            </a:pPr>
            <a:r>
              <a:rPr lang="en-US" sz="1150" dirty="0">
                <a:solidFill>
                  <a:schemeClr val="tx1"/>
                </a:solidFill>
              </a:rPr>
              <a:t>Skills, not just facts</a:t>
            </a:r>
            <a:endParaRPr lang="en-US" sz="1150" dirty="0"/>
          </a:p>
        </p:txBody>
      </p:sp>
      <p:sp>
        <p:nvSpPr>
          <p:cNvPr id="28" name="con h 2"/>
          <p:cNvSpPr txBox="1"/>
          <p:nvPr/>
        </p:nvSpPr>
        <p:spPr>
          <a:xfrm>
            <a:off x="8275320" y="4069080"/>
            <a:ext cx="1828800" cy="274320"/>
          </a:xfrm>
          <a:prstGeom prst="rect">
            <a:avLst/>
          </a:prstGeom>
          <a:noFill/>
          <a:ln/>
        </p:spPr>
        <p:txBody>
          <a:bodyPr wrap="square" lIns="0" tIns="0" rIns="0" bIns="0" rtlCol="0" anchor="ctr"/>
          <a:lstStyle/>
          <a:p>
            <a:pPr indent="0" marL="0">
              <a:buNone/>
            </a:pPr>
            <a:r>
              <a:rPr lang="en-US" sz="1200" b="1" dirty="0">
                <a:solidFill>
                  <a:schemeClr val="accent1"/>
                </a:solidFill>
              </a:rPr>
              <a:t>Weaknesses</a:t>
            </a:r>
            <a:endParaRPr lang="en-US" sz="1200" dirty="0"/>
          </a:p>
        </p:txBody>
      </p:sp>
      <p:sp>
        <p:nvSpPr>
          <p:cNvPr id="29" name="con 2"/>
          <p:cNvSpPr txBox="1"/>
          <p:nvPr/>
        </p:nvSpPr>
        <p:spPr>
          <a:xfrm>
            <a:off x="8275320" y="4343400"/>
            <a:ext cx="3017520" cy="1051560"/>
          </a:xfrm>
          <a:prstGeom prst="rect">
            <a:avLst/>
          </a:prstGeom>
          <a:noFill/>
          <a:ln/>
        </p:spPr>
        <p:txBody>
          <a:bodyPr wrap="square" lIns="0" tIns="0" rIns="0" bIns="0" rtlCol="0" anchor="t"/>
          <a:lstStyle/>
          <a:p>
            <a:pPr marL="342900" indent="-342900">
              <a:spcAft>
                <a:spcPts val="200"/>
              </a:spcAft>
              <a:buSzPct val="100000"/>
              <a:buChar char="•"/>
            </a:pPr>
            <a:r>
              <a:rPr lang="en-US" sz="1150" dirty="0">
                <a:solidFill>
                  <a:schemeClr val="tx1"/>
                </a:solidFill>
              </a:rPr>
              <a:t>Catastrophic forgetting</a:t>
            </a:r>
            <a:endParaRPr lang="en-US" sz="1150" dirty="0"/>
          </a:p>
          <a:p>
            <a:pPr marL="342900" indent="-342900">
              <a:spcAft>
                <a:spcPts val="200"/>
              </a:spcAft>
              <a:buSzPct val="100000"/>
              <a:buChar char="•"/>
            </a:pPr>
            <a:r>
              <a:rPr lang="en-US" sz="1150" dirty="0">
                <a:solidFill>
                  <a:schemeClr val="tx1"/>
                </a:solidFill>
              </a:rPr>
              <a:t>Opaque: hard to audit or delete</a:t>
            </a:r>
            <a:endParaRPr lang="en-US" sz="1150" dirty="0"/>
          </a:p>
          <a:p>
            <a:pPr marL="342900" indent="-342900">
              <a:spcAft>
                <a:spcPts val="200"/>
              </a:spcAft>
              <a:buSzPct val="100000"/>
              <a:buChar char="•"/>
            </a:pPr>
            <a:r>
              <a:rPr lang="en-US" sz="1150" dirty="0">
                <a:solidFill>
                  <a:schemeClr val="tx1"/>
                </a:solidFill>
              </a:rPr>
              <a:t>Serving cost: 1000 LoRAs on 13B ≈ 1.3 TB</a:t>
            </a:r>
            <a:endParaRPr lang="en-US" sz="1150" dirty="0"/>
          </a:p>
        </p:txBody>
      </p:sp>
      <p:sp>
        <p:nvSpPr>
          <p:cNvPr id="30" name="talk strip"/>
          <p:cNvSpPr/>
          <p:nvPr/>
        </p:nvSpPr>
        <p:spPr>
          <a:xfrm>
            <a:off x="640080" y="5532120"/>
            <a:ext cx="10881360" cy="731520"/>
          </a:xfrm>
          <a:prstGeom prst="roundRect">
            <a:avLst>
              <a:gd name="adj" fmla="val 12500"/>
            </a:avLst>
          </a:prstGeom>
          <a:solidFill>
            <a:srgbClr val="FDE4D3"/>
          </a:solidFill>
          <a:ln w="12700">
            <a:solidFill>
              <a:srgbClr val="FDE4D3"/>
            </a:solidFill>
            <a:prstDash val="solid"/>
          </a:ln>
        </p:spPr>
      </p:sp>
      <p:sp>
        <p:nvSpPr>
          <p:cNvPr id="31" name="talk text"/>
          <p:cNvSpPr txBox="1"/>
          <p:nvPr/>
        </p:nvSpPr>
        <p:spPr>
          <a:xfrm>
            <a:off x="822960" y="5577840"/>
            <a:ext cx="10515600" cy="640080"/>
          </a:xfrm>
          <a:prstGeom prst="rect">
            <a:avLst/>
          </a:prstGeom>
          <a:noFill/>
          <a:ln/>
        </p:spPr>
        <p:txBody>
          <a:bodyPr wrap="square" lIns="0" tIns="0" rIns="0" bIns="0" rtlCol="0" anchor="ctr"/>
          <a:lstStyle/>
          <a:p>
            <a:pPr indent="0" marL="0">
              <a:buNone/>
            </a:pPr>
            <a:r>
              <a:rPr lang="en-US" sz="1300" b="1" i="1" dirty="0">
                <a:solidFill>
                  <a:schemeClr val="accent1"/>
                </a:solidFill>
              </a:rPr>
              <a:t>Say: </a:t>
            </a:r>
            <a:pPr indent="0" marL="0">
              <a:buNone/>
            </a:pPr>
            <a:r>
              <a:rPr lang="en-US" sz="1300" i="1" dirty="0">
                <a:solidFill>
                  <a:schemeClr val="tx1"/>
                </a:solidFill>
              </a:rPr>
              <a:t>"Context is RAM, the store is disk, weights are the OS. Everyone agrees on the metaphor; nobody agrees on what should go where."</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777240"/>
          </a:xfrm>
          <a:prstGeom prst="rect">
            <a:avLst/>
          </a:prstGeom>
          <a:noFill/>
          <a:ln/>
        </p:spPr>
        <p:txBody>
          <a:bodyPr wrap="square" lIns="0" tIns="0" rIns="0" bIns="0" rtlCol="0"/>
          <a:lstStyle/>
          <a:p>
            <a:pPr algn="l" indent="0" marL="0">
              <a:buNone/>
            </a:pPr>
            <a:r>
              <a:rPr lang="en-US" sz="2600" b="1" dirty="0">
                <a:solidFill>
                  <a:schemeClr val="tx1"/>
                </a:solidFill>
              </a:rPr>
              <a:t>Memory went from research topic to table stakes in 18 months</a:t>
            </a:r>
            <a:endParaRPr lang="en-US" sz="2600" dirty="0"/>
          </a:p>
        </p:txBody>
      </p:sp>
      <p:sp>
        <p:nvSpPr>
          <p:cNvPr id="3" name="timeline axis"/>
          <p:cNvSpPr/>
          <p:nvPr/>
        </p:nvSpPr>
        <p:spPr>
          <a:xfrm>
            <a:off x="1234440" y="1600200"/>
            <a:ext cx="0" cy="3749040"/>
          </a:xfrm>
          <a:prstGeom prst="line">
            <a:avLst/>
          </a:prstGeom>
          <a:noFill/>
          <a:ln w="19050">
            <a:solidFill>
              <a:srgbClr val="64748B"/>
            </a:solidFill>
            <a:prstDash val="solid"/>
          </a:ln>
        </p:spPr>
      </p:sp>
      <p:sp>
        <p:nvSpPr>
          <p:cNvPr id="4" name="tl dot 0"/>
          <p:cNvSpPr/>
          <p:nvPr/>
        </p:nvSpPr>
        <p:spPr>
          <a:xfrm>
            <a:off x="1115568" y="1508760"/>
            <a:ext cx="237744" cy="237744"/>
          </a:xfrm>
          <a:prstGeom prst="ellipse">
            <a:avLst/>
          </a:prstGeom>
          <a:solidFill>
            <a:srgbClr val="7C3AED"/>
          </a:solidFill>
          <a:ln w="19050">
            <a:solidFill>
              <a:srgbClr val="FFFFFF"/>
            </a:solidFill>
            <a:prstDash val="solid"/>
          </a:ln>
        </p:spPr>
      </p:sp>
      <p:sp>
        <p:nvSpPr>
          <p:cNvPr id="5" name="tl date 0"/>
          <p:cNvSpPr txBox="1"/>
          <p:nvPr/>
        </p:nvSpPr>
        <p:spPr>
          <a:xfrm>
            <a:off x="274320" y="1463040"/>
            <a:ext cx="777240" cy="320040"/>
          </a:xfrm>
          <a:prstGeom prst="rect">
            <a:avLst/>
          </a:prstGeom>
          <a:noFill/>
          <a:ln/>
        </p:spPr>
        <p:txBody>
          <a:bodyPr wrap="square" lIns="0" tIns="0" rIns="0" bIns="0" rtlCol="0" anchor="ctr"/>
          <a:lstStyle/>
          <a:p>
            <a:pPr algn="r" indent="0" marL="0">
              <a:buNone/>
            </a:pPr>
            <a:r>
              <a:rPr lang="en-US" sz="1100" b="1" dirty="0">
                <a:solidFill>
                  <a:schemeClr val="accent1"/>
                </a:solidFill>
              </a:rPr>
              <a:t>Dec 2025</a:t>
            </a:r>
            <a:endParaRPr lang="en-US" sz="1100" dirty="0"/>
          </a:p>
        </p:txBody>
      </p:sp>
      <p:sp>
        <p:nvSpPr>
          <p:cNvPr id="6" name="tl text 0"/>
          <p:cNvSpPr txBox="1"/>
          <p:nvPr/>
        </p:nvSpPr>
        <p:spPr>
          <a:xfrm>
            <a:off x="1554480" y="1417320"/>
            <a:ext cx="9966960" cy="566928"/>
          </a:xfrm>
          <a:prstGeom prst="rect">
            <a:avLst/>
          </a:prstGeom>
          <a:noFill/>
          <a:ln/>
        </p:spPr>
        <p:txBody>
          <a:bodyPr wrap="square" lIns="0" tIns="0" rIns="0" bIns="0" rtlCol="0" anchor="ctr"/>
          <a:lstStyle/>
          <a:p>
            <a:pPr indent="0" marL="0">
              <a:buNone/>
            </a:pPr>
            <a:r>
              <a:rPr lang="en-US" sz="1300" b="1" dirty="0">
                <a:solidFill>
                  <a:schemeClr val="tx1"/>
                </a:solidFill>
              </a:rPr>
              <a:t>TTT-E2E &amp; Nested Learning / Hope  </a:t>
            </a:r>
            <a:pPr indent="0" marL="0">
              <a:buNone/>
            </a:pPr>
            <a:r>
              <a:rPr lang="en-US" sz="1300" dirty="0">
                <a:solidFill>
                  <a:schemeClr val="tx2"/>
                </a:solidFill>
              </a:rPr>
              <a:t>Context compressed into weights at inference; multi-timescale continuum memory. Google + NVIDIA/Stanford/Berkeley.</a:t>
            </a:r>
            <a:endParaRPr lang="en-US" sz="1300" dirty="0"/>
          </a:p>
        </p:txBody>
      </p:sp>
      <p:sp>
        <p:nvSpPr>
          <p:cNvPr id="7" name="tl dot 1"/>
          <p:cNvSpPr/>
          <p:nvPr/>
        </p:nvSpPr>
        <p:spPr>
          <a:xfrm>
            <a:off x="1115568" y="2167128"/>
            <a:ext cx="237744" cy="237744"/>
          </a:xfrm>
          <a:prstGeom prst="ellipse">
            <a:avLst/>
          </a:prstGeom>
          <a:solidFill>
            <a:srgbClr val="7C3AED"/>
          </a:solidFill>
          <a:ln w="19050">
            <a:solidFill>
              <a:srgbClr val="FFFFFF"/>
            </a:solidFill>
            <a:prstDash val="solid"/>
          </a:ln>
        </p:spPr>
      </p:sp>
      <p:sp>
        <p:nvSpPr>
          <p:cNvPr id="8" name="tl date 1"/>
          <p:cNvSpPr txBox="1"/>
          <p:nvPr/>
        </p:nvSpPr>
        <p:spPr>
          <a:xfrm>
            <a:off x="274320" y="2121408"/>
            <a:ext cx="777240" cy="320040"/>
          </a:xfrm>
          <a:prstGeom prst="rect">
            <a:avLst/>
          </a:prstGeom>
          <a:noFill/>
          <a:ln/>
        </p:spPr>
        <p:txBody>
          <a:bodyPr wrap="square" lIns="0" tIns="0" rIns="0" bIns="0" rtlCol="0" anchor="ctr"/>
          <a:lstStyle/>
          <a:p>
            <a:pPr algn="r" indent="0" marL="0">
              <a:buNone/>
            </a:pPr>
            <a:r>
              <a:rPr lang="en-US" sz="1100" b="1" dirty="0">
                <a:solidFill>
                  <a:schemeClr val="accent1"/>
                </a:solidFill>
              </a:rPr>
              <a:t>Feb 2026</a:t>
            </a:r>
            <a:endParaRPr lang="en-US" sz="1100" dirty="0"/>
          </a:p>
        </p:txBody>
      </p:sp>
      <p:sp>
        <p:nvSpPr>
          <p:cNvPr id="9" name="tl text 1"/>
          <p:cNvSpPr txBox="1"/>
          <p:nvPr/>
        </p:nvSpPr>
        <p:spPr>
          <a:xfrm>
            <a:off x="1554480" y="2075688"/>
            <a:ext cx="9966960" cy="566928"/>
          </a:xfrm>
          <a:prstGeom prst="rect">
            <a:avLst/>
          </a:prstGeom>
          <a:noFill/>
          <a:ln/>
        </p:spPr>
        <p:txBody>
          <a:bodyPr wrap="square" lIns="0" tIns="0" rIns="0" bIns="0" rtlCol="0" anchor="ctr"/>
          <a:lstStyle/>
          <a:p>
            <a:pPr indent="0" marL="0">
              <a:buNone/>
            </a:pPr>
            <a:r>
              <a:rPr lang="en-US" sz="1300" b="1" dirty="0">
                <a:solidFill>
                  <a:schemeClr val="tx1"/>
                </a:solidFill>
              </a:rPr>
              <a:t>ChatGPT ads use memory  </a:t>
            </a:r>
            <a:pPr indent="0" marL="0">
              <a:buNone/>
            </a:pPr>
            <a:r>
              <a:rPr lang="en-US" sz="1300" dirty="0">
                <a:solidFill>
                  <a:schemeClr val="tx2"/>
                </a:solidFill>
              </a:rPr>
              <a:t>Personalized ads can draw on past chats and stored memory for Free/Go users. GPT-5.3-Codex 'instrumental in creating itself'.</a:t>
            </a:r>
            <a:endParaRPr lang="en-US" sz="1300" dirty="0"/>
          </a:p>
        </p:txBody>
      </p:sp>
      <p:sp>
        <p:nvSpPr>
          <p:cNvPr id="10" name="tl dot 2"/>
          <p:cNvSpPr/>
          <p:nvPr/>
        </p:nvSpPr>
        <p:spPr>
          <a:xfrm>
            <a:off x="1115568" y="2825496"/>
            <a:ext cx="237744" cy="237744"/>
          </a:xfrm>
          <a:prstGeom prst="ellipse">
            <a:avLst/>
          </a:prstGeom>
          <a:solidFill>
            <a:srgbClr val="7C3AED"/>
          </a:solidFill>
          <a:ln w="19050">
            <a:solidFill>
              <a:srgbClr val="FFFFFF"/>
            </a:solidFill>
            <a:prstDash val="solid"/>
          </a:ln>
        </p:spPr>
      </p:sp>
      <p:sp>
        <p:nvSpPr>
          <p:cNvPr id="11" name="tl date 2"/>
          <p:cNvSpPr txBox="1"/>
          <p:nvPr/>
        </p:nvSpPr>
        <p:spPr>
          <a:xfrm>
            <a:off x="274320" y="2779776"/>
            <a:ext cx="777240" cy="320040"/>
          </a:xfrm>
          <a:prstGeom prst="rect">
            <a:avLst/>
          </a:prstGeom>
          <a:noFill/>
          <a:ln/>
        </p:spPr>
        <p:txBody>
          <a:bodyPr wrap="square" lIns="0" tIns="0" rIns="0" bIns="0" rtlCol="0" anchor="ctr"/>
          <a:lstStyle/>
          <a:p>
            <a:pPr algn="r" indent="0" marL="0">
              <a:buNone/>
            </a:pPr>
            <a:r>
              <a:rPr lang="en-US" sz="1100" b="1" dirty="0">
                <a:solidFill>
                  <a:schemeClr val="accent1"/>
                </a:solidFill>
              </a:rPr>
              <a:t>Mar 2026</a:t>
            </a:r>
            <a:endParaRPr lang="en-US" sz="1100" dirty="0"/>
          </a:p>
        </p:txBody>
      </p:sp>
      <p:sp>
        <p:nvSpPr>
          <p:cNvPr id="12" name="tl text 2"/>
          <p:cNvSpPr txBox="1"/>
          <p:nvPr/>
        </p:nvSpPr>
        <p:spPr>
          <a:xfrm>
            <a:off x="1554480" y="2734056"/>
            <a:ext cx="9966960" cy="566928"/>
          </a:xfrm>
          <a:prstGeom prst="rect">
            <a:avLst/>
          </a:prstGeom>
          <a:noFill/>
          <a:ln/>
        </p:spPr>
        <p:txBody>
          <a:bodyPr wrap="square" lIns="0" tIns="0" rIns="0" bIns="0" rtlCol="0" anchor="ctr"/>
          <a:lstStyle/>
          <a:p>
            <a:pPr indent="0" marL="0">
              <a:buNone/>
            </a:pPr>
            <a:r>
              <a:rPr lang="en-US" sz="1300" b="1" dirty="0">
                <a:solidFill>
                  <a:schemeClr val="tx1"/>
                </a:solidFill>
              </a:rPr>
              <a:t>Claude memory for all tiers  </a:t>
            </a:r>
            <a:pPr indent="0" marL="0">
              <a:buNone/>
            </a:pPr>
            <a:r>
              <a:rPr lang="en-US" sz="1300" dirty="0">
                <a:solidFill>
                  <a:schemeClr val="tx2"/>
                </a:solidFill>
              </a:rPr>
              <a:t>Automatic cross-chat synthesis every 24h; unified across Chat and Cowork; user can view/edit/delete.</a:t>
            </a:r>
            <a:endParaRPr lang="en-US" sz="1300" dirty="0"/>
          </a:p>
        </p:txBody>
      </p:sp>
      <p:sp>
        <p:nvSpPr>
          <p:cNvPr id="13" name="tl dot 3"/>
          <p:cNvSpPr/>
          <p:nvPr/>
        </p:nvSpPr>
        <p:spPr>
          <a:xfrm>
            <a:off x="1115568" y="3483864"/>
            <a:ext cx="237744" cy="237744"/>
          </a:xfrm>
          <a:prstGeom prst="ellipse">
            <a:avLst/>
          </a:prstGeom>
          <a:solidFill>
            <a:srgbClr val="7C3AED"/>
          </a:solidFill>
          <a:ln w="19050">
            <a:solidFill>
              <a:srgbClr val="FFFFFF"/>
            </a:solidFill>
            <a:prstDash val="solid"/>
          </a:ln>
        </p:spPr>
      </p:sp>
      <p:sp>
        <p:nvSpPr>
          <p:cNvPr id="14" name="tl date 3"/>
          <p:cNvSpPr txBox="1"/>
          <p:nvPr/>
        </p:nvSpPr>
        <p:spPr>
          <a:xfrm>
            <a:off x="274320" y="3438144"/>
            <a:ext cx="777240" cy="320040"/>
          </a:xfrm>
          <a:prstGeom prst="rect">
            <a:avLst/>
          </a:prstGeom>
          <a:noFill/>
          <a:ln/>
        </p:spPr>
        <p:txBody>
          <a:bodyPr wrap="square" lIns="0" tIns="0" rIns="0" bIns="0" rtlCol="0" anchor="ctr"/>
          <a:lstStyle/>
          <a:p>
            <a:pPr algn="r" indent="0" marL="0">
              <a:buNone/>
            </a:pPr>
            <a:r>
              <a:rPr lang="en-US" sz="1100" b="1" dirty="0">
                <a:solidFill>
                  <a:schemeClr val="accent1"/>
                </a:solidFill>
              </a:rPr>
              <a:t>May 2026</a:t>
            </a:r>
            <a:endParaRPr lang="en-US" sz="1100" dirty="0"/>
          </a:p>
        </p:txBody>
      </p:sp>
      <p:sp>
        <p:nvSpPr>
          <p:cNvPr id="15" name="tl text 3"/>
          <p:cNvSpPr txBox="1"/>
          <p:nvPr/>
        </p:nvSpPr>
        <p:spPr>
          <a:xfrm>
            <a:off x="1554480" y="3392424"/>
            <a:ext cx="9966960" cy="566928"/>
          </a:xfrm>
          <a:prstGeom prst="rect">
            <a:avLst/>
          </a:prstGeom>
          <a:noFill/>
          <a:ln/>
        </p:spPr>
        <p:txBody>
          <a:bodyPr wrap="square" lIns="0" tIns="0" rIns="0" bIns="0" rtlCol="0" anchor="ctr"/>
          <a:lstStyle/>
          <a:p>
            <a:pPr indent="0" marL="0">
              <a:buNone/>
            </a:pPr>
            <a:r>
              <a:rPr lang="en-US" sz="1300" b="1" dirty="0">
                <a:solidFill>
                  <a:schemeClr val="tx1"/>
                </a:solidFill>
              </a:rPr>
              <a:t>Claude 'Dreaming'  </a:t>
            </a:r>
            <a:pPr indent="0" marL="0">
              <a:buNone/>
            </a:pPr>
            <a:r>
              <a:rPr lang="en-US" sz="1300" dirty="0">
                <a:solidFill>
                  <a:schemeClr val="tx2"/>
                </a:solidFill>
              </a:rPr>
              <a:t>Managed Agents review up to 100 past sessions offline, write playbooks. No weight updates. Harvey reports 6x task completion.</a:t>
            </a:r>
            <a:endParaRPr lang="en-US" sz="1300" dirty="0"/>
          </a:p>
        </p:txBody>
      </p:sp>
      <p:sp>
        <p:nvSpPr>
          <p:cNvPr id="16" name="tl dot 4"/>
          <p:cNvSpPr/>
          <p:nvPr/>
        </p:nvSpPr>
        <p:spPr>
          <a:xfrm>
            <a:off x="1115568" y="4142232"/>
            <a:ext cx="237744" cy="237744"/>
          </a:xfrm>
          <a:prstGeom prst="ellipse">
            <a:avLst/>
          </a:prstGeom>
          <a:solidFill>
            <a:srgbClr val="7C3AED"/>
          </a:solidFill>
          <a:ln w="19050">
            <a:solidFill>
              <a:srgbClr val="FFFFFF"/>
            </a:solidFill>
            <a:prstDash val="solid"/>
          </a:ln>
        </p:spPr>
      </p:sp>
      <p:sp>
        <p:nvSpPr>
          <p:cNvPr id="17" name="tl date 4"/>
          <p:cNvSpPr txBox="1"/>
          <p:nvPr/>
        </p:nvSpPr>
        <p:spPr>
          <a:xfrm>
            <a:off x="274320" y="4096512"/>
            <a:ext cx="777240" cy="320040"/>
          </a:xfrm>
          <a:prstGeom prst="rect">
            <a:avLst/>
          </a:prstGeom>
          <a:noFill/>
          <a:ln/>
        </p:spPr>
        <p:txBody>
          <a:bodyPr wrap="square" lIns="0" tIns="0" rIns="0" bIns="0" rtlCol="0" anchor="ctr"/>
          <a:lstStyle/>
          <a:p>
            <a:pPr algn="r" indent="0" marL="0">
              <a:buNone/>
            </a:pPr>
            <a:r>
              <a:rPr lang="en-US" sz="1100" b="1" dirty="0">
                <a:solidFill>
                  <a:schemeClr val="accent1"/>
                </a:solidFill>
              </a:rPr>
              <a:t>Jun 2026</a:t>
            </a:r>
            <a:endParaRPr lang="en-US" sz="1100" dirty="0"/>
          </a:p>
        </p:txBody>
      </p:sp>
      <p:sp>
        <p:nvSpPr>
          <p:cNvPr id="18" name="tl text 4"/>
          <p:cNvSpPr txBox="1"/>
          <p:nvPr/>
        </p:nvSpPr>
        <p:spPr>
          <a:xfrm>
            <a:off x="1554480" y="4050792"/>
            <a:ext cx="9966960" cy="566928"/>
          </a:xfrm>
          <a:prstGeom prst="rect">
            <a:avLst/>
          </a:prstGeom>
          <a:noFill/>
          <a:ln/>
        </p:spPr>
        <p:txBody>
          <a:bodyPr wrap="square" lIns="0" tIns="0" rIns="0" bIns="0" rtlCol="0" anchor="ctr"/>
          <a:lstStyle/>
          <a:p>
            <a:pPr indent="0" marL="0">
              <a:buNone/>
            </a:pPr>
            <a:r>
              <a:rPr lang="en-US" sz="1300" b="1" dirty="0">
                <a:solidFill>
                  <a:schemeClr val="tx1"/>
                </a:solidFill>
              </a:rPr>
              <a:t>Gemini Personal Intelligence; OpenAI memory refresh  </a:t>
            </a:r>
            <a:pPr indent="0" marL="0">
              <a:buNone/>
            </a:pPr>
            <a:r>
              <a:rPr lang="en-US" sz="1300" dirty="0">
                <a:solidFill>
                  <a:schemeClr val="tx2"/>
                </a:solidFill>
              </a:rPr>
              <a:t>Gemini connects Gmail/Photos/Live; ChatGPT reduces stale and contradictory memories.</a:t>
            </a:r>
            <a:endParaRPr lang="en-US" sz="1300" dirty="0"/>
          </a:p>
        </p:txBody>
      </p:sp>
      <p:sp>
        <p:nvSpPr>
          <p:cNvPr id="19" name="tl dot 5"/>
          <p:cNvSpPr/>
          <p:nvPr/>
        </p:nvSpPr>
        <p:spPr>
          <a:xfrm>
            <a:off x="1115568" y="4800600"/>
            <a:ext cx="237744" cy="237744"/>
          </a:xfrm>
          <a:prstGeom prst="ellipse">
            <a:avLst/>
          </a:prstGeom>
          <a:solidFill>
            <a:srgbClr val="C2410C"/>
          </a:solidFill>
          <a:ln w="19050">
            <a:solidFill>
              <a:srgbClr val="FFFFFF"/>
            </a:solidFill>
            <a:prstDash val="solid"/>
          </a:ln>
        </p:spPr>
      </p:sp>
      <p:sp>
        <p:nvSpPr>
          <p:cNvPr id="20" name="tl date 5"/>
          <p:cNvSpPr txBox="1"/>
          <p:nvPr/>
        </p:nvSpPr>
        <p:spPr>
          <a:xfrm>
            <a:off x="274320" y="4754880"/>
            <a:ext cx="777240" cy="320040"/>
          </a:xfrm>
          <a:prstGeom prst="rect">
            <a:avLst/>
          </a:prstGeom>
          <a:noFill/>
          <a:ln/>
        </p:spPr>
        <p:txBody>
          <a:bodyPr wrap="square" lIns="0" tIns="0" rIns="0" bIns="0" rtlCol="0" anchor="ctr"/>
          <a:lstStyle/>
          <a:p>
            <a:pPr algn="r" indent="0" marL="0">
              <a:buNone/>
            </a:pPr>
            <a:r>
              <a:rPr lang="en-US" sz="1100" b="1" dirty="0">
                <a:solidFill>
                  <a:schemeClr val="accent1"/>
                </a:solidFill>
              </a:rPr>
              <a:t>Now</a:t>
            </a:r>
            <a:endParaRPr lang="en-US" sz="1100" dirty="0"/>
          </a:p>
        </p:txBody>
      </p:sp>
      <p:sp>
        <p:nvSpPr>
          <p:cNvPr id="21" name="tl text 5"/>
          <p:cNvSpPr txBox="1"/>
          <p:nvPr/>
        </p:nvSpPr>
        <p:spPr>
          <a:xfrm>
            <a:off x="1554480" y="4709160"/>
            <a:ext cx="9966960" cy="566928"/>
          </a:xfrm>
          <a:prstGeom prst="rect">
            <a:avLst/>
          </a:prstGeom>
          <a:noFill/>
          <a:ln/>
        </p:spPr>
        <p:txBody>
          <a:bodyPr wrap="square" lIns="0" tIns="0" rIns="0" bIns="0" rtlCol="0" anchor="ctr"/>
          <a:lstStyle/>
          <a:p>
            <a:pPr indent="0" marL="0">
              <a:buNone/>
            </a:pPr>
            <a:r>
              <a:rPr lang="en-US" sz="1300" b="1" dirty="0">
                <a:solidFill>
                  <a:schemeClr val="tx1"/>
                </a:solidFill>
              </a:rPr>
              <a:t>Memory as a market  </a:t>
            </a:r>
            <a:pPr indent="0" marL="0">
              <a:buNone/>
            </a:pPr>
            <a:r>
              <a:rPr lang="en-US" sz="1300" dirty="0">
                <a:solidFill>
                  <a:schemeClr val="tx2"/>
                </a:solidFill>
              </a:rPr>
              <a:t>Mem0 at 51K+ stars, 14M downloads, AWS integration; Letta, Zep; ICLR MemAgents workshop; OWASP ASI06 memory poisoning.</a:t>
            </a:r>
            <a:endParaRPr lang="en-US" sz="1300" dirty="0"/>
          </a:p>
        </p:txBody>
      </p:sp>
      <p:sp>
        <p:nvSpPr>
          <p:cNvPr id="22" name="talk strip"/>
          <p:cNvSpPr/>
          <p:nvPr/>
        </p:nvSpPr>
        <p:spPr>
          <a:xfrm>
            <a:off x="640080" y="5532120"/>
            <a:ext cx="10881360" cy="731520"/>
          </a:xfrm>
          <a:prstGeom prst="roundRect">
            <a:avLst>
              <a:gd name="adj" fmla="val 12500"/>
            </a:avLst>
          </a:prstGeom>
          <a:solidFill>
            <a:srgbClr val="FDE4D3"/>
          </a:solidFill>
          <a:ln w="12700">
            <a:solidFill>
              <a:srgbClr val="FDE4D3"/>
            </a:solidFill>
            <a:prstDash val="solid"/>
          </a:ln>
        </p:spPr>
      </p:sp>
      <p:sp>
        <p:nvSpPr>
          <p:cNvPr id="23" name="talk text"/>
          <p:cNvSpPr txBox="1"/>
          <p:nvPr/>
        </p:nvSpPr>
        <p:spPr>
          <a:xfrm>
            <a:off x="822960" y="5577840"/>
            <a:ext cx="10515600" cy="640080"/>
          </a:xfrm>
          <a:prstGeom prst="rect">
            <a:avLst/>
          </a:prstGeom>
          <a:noFill/>
          <a:ln/>
        </p:spPr>
        <p:txBody>
          <a:bodyPr wrap="square" lIns="0" tIns="0" rIns="0" bIns="0" rtlCol="0" anchor="ctr"/>
          <a:lstStyle/>
          <a:p>
            <a:pPr indent="0" marL="0">
              <a:buNone/>
            </a:pPr>
            <a:r>
              <a:rPr lang="en-US" sz="1300" b="1" i="1" dirty="0">
                <a:solidFill>
                  <a:schemeClr val="accent1"/>
                </a:solidFill>
              </a:rPr>
              <a:t>Say: </a:t>
            </a:r>
            <a:pPr indent="0" marL="0">
              <a:buNone/>
            </a:pPr>
            <a:r>
              <a:rPr lang="en-US" sz="1300" i="1" dirty="0">
                <a:solidFill>
                  <a:schemeClr val="tx1"/>
                </a:solidFill>
              </a:rPr>
              <a:t>"Every frontier assistant now ships cross-session memory. The differentiation moved from 'do you remember' to 'what do you do with it, and who controls it.'"</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lstStyle/>
          <a:p>
            <a:pPr algn="l" indent="0" marL="0">
              <a:buNone/>
            </a:pPr>
            <a:r>
              <a:rPr lang="en-US" sz="3800" b="1" dirty="0">
                <a:solidFill>
                  <a:schemeClr val="bg1"/>
                </a:solidFill>
              </a:rPr>
              <a:t>Round 1 · How fast are frontier models really moving?</a:t>
            </a:r>
            <a:endParaRPr lang="en-US" sz="3800" dirty="0"/>
          </a:p>
        </p:txBody>
      </p:sp>
      <p:sp>
        <p:nvSpPr>
          <p:cNvPr id="3" name="Text 0"/>
          <p:cNvSpPr/>
          <p:nvPr>
            <p:ph idx="101" type="body" hasCustomPrompt="1"/>
          </p:nvPr>
        </p:nvSpPr>
        <p:spPr>
          <a:xfrm>
            <a:off x="731520" y="3794760"/>
            <a:ext cx="10058400" cy="1280160"/>
          </a:xfrm>
          <a:prstGeom prst="rect">
            <a:avLst/>
          </a:prstGeom>
          <a:noFill/>
          <a:ln/>
        </p:spPr>
        <p:txBody>
          <a:bodyPr wrap="square" lIns="0" tIns="0" rIns="0" bIns="0" rtlCol="0"/>
          <a:lstStyle/>
          <a:p>
            <a:pPr algn="l" indent="0" marL="0">
              <a:buNone/>
            </a:pPr>
            <a:r>
              <a:rPr lang="en-US" sz="2000" dirty="0">
                <a:solidFill>
                  <a:schemeClr val="accent6"/>
                </a:solidFill>
              </a:rPr>
              <a:t>My angle: continual learning and memory across sessions. Pick: A, step change, with the caveat that the gap is learning, not reasoning.</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777240"/>
          </a:xfrm>
          <a:prstGeom prst="rect">
            <a:avLst/>
          </a:prstGeom>
          <a:noFill/>
          <a:ln/>
        </p:spPr>
        <p:txBody>
          <a:bodyPr wrap="square" lIns="0" tIns="0" rIns="0" bIns="0" rtlCol="0"/>
          <a:lstStyle/>
          <a:p>
            <a:pPr algn="l" indent="0" marL="0">
              <a:buNone/>
            </a:pPr>
            <a:r>
              <a:rPr lang="en-US" sz="2600" b="1" dirty="0">
                <a:solidFill>
                  <a:schemeClr val="tx1"/>
                </a:solidFill>
              </a:rPr>
              <a:t>The step change is real; the gap is learning on the job</a:t>
            </a:r>
            <a:endParaRPr lang="en-US" sz="2600" dirty="0"/>
          </a:p>
        </p:txBody>
      </p:sp>
      <p:sp>
        <p:nvSpPr>
          <p:cNvPr id="3" name="stat 0.07 bits"/>
          <p:cNvSpPr txBox="1"/>
          <p:nvPr/>
        </p:nvSpPr>
        <p:spPr>
          <a:xfrm>
            <a:off x="640080" y="1417320"/>
            <a:ext cx="3291840" cy="822960"/>
          </a:xfrm>
          <a:prstGeom prst="rect">
            <a:avLst/>
          </a:prstGeom>
          <a:noFill/>
          <a:ln/>
        </p:spPr>
        <p:txBody>
          <a:bodyPr wrap="square" lIns="0" tIns="0" rIns="0" bIns="0" rtlCol="0" anchor="ctr"/>
          <a:lstStyle/>
          <a:p>
            <a:pPr indent="0" marL="0">
              <a:buNone/>
            </a:pPr>
            <a:r>
              <a:rPr lang="en-US" sz="4000" b="1" dirty="0">
                <a:solidFill>
                  <a:schemeClr val="accent1"/>
                </a:solidFill>
              </a:rPr>
              <a:t>0.07 bits</a:t>
            </a:r>
            <a:endParaRPr lang="en-US" sz="4000" dirty="0"/>
          </a:p>
        </p:txBody>
      </p:sp>
      <p:sp>
        <p:nvSpPr>
          <p:cNvPr id="4" name="stat label 0.07 bits"/>
          <p:cNvSpPr txBox="1"/>
          <p:nvPr/>
        </p:nvSpPr>
        <p:spPr>
          <a:xfrm>
            <a:off x="640080" y="2240280"/>
            <a:ext cx="3291840" cy="640080"/>
          </a:xfrm>
          <a:prstGeom prst="rect">
            <a:avLst/>
          </a:prstGeom>
          <a:noFill/>
          <a:ln/>
        </p:spPr>
        <p:txBody>
          <a:bodyPr wrap="square" lIns="0" tIns="0" rIns="0" bIns="0" rtlCol="0" anchor="t"/>
          <a:lstStyle/>
          <a:p>
            <a:pPr indent="0" marL="0">
              <a:buNone/>
            </a:pPr>
            <a:r>
              <a:rPr lang="en-US" sz="1200" dirty="0">
                <a:solidFill>
                  <a:schemeClr val="tx2"/>
                </a:solidFill>
              </a:rPr>
              <a:t>stored per training token in a 70B model's weights (Karpathy). Weights are a lossy sketch; context is lossless but wiped.</a:t>
            </a:r>
            <a:endParaRPr lang="en-US" sz="1200" dirty="0"/>
          </a:p>
        </p:txBody>
      </p:sp>
      <p:sp>
        <p:nvSpPr>
          <p:cNvPr id="5" name="stat ~10 yrs"/>
          <p:cNvSpPr txBox="1"/>
          <p:nvPr/>
        </p:nvSpPr>
        <p:spPr>
          <a:xfrm>
            <a:off x="4206240" y="1417320"/>
            <a:ext cx="3291840" cy="822960"/>
          </a:xfrm>
          <a:prstGeom prst="rect">
            <a:avLst/>
          </a:prstGeom>
          <a:noFill/>
          <a:ln/>
        </p:spPr>
        <p:txBody>
          <a:bodyPr wrap="square" lIns="0" tIns="0" rIns="0" bIns="0" rtlCol="0" anchor="ctr"/>
          <a:lstStyle/>
          <a:p>
            <a:pPr indent="0" marL="0">
              <a:buNone/>
            </a:pPr>
            <a:r>
              <a:rPr lang="en-US" sz="4000" b="1" dirty="0">
                <a:solidFill>
                  <a:schemeClr val="accent2"/>
                </a:solidFill>
              </a:rPr>
              <a:t>~10 yrs</a:t>
            </a:r>
            <a:endParaRPr lang="en-US" sz="4000" dirty="0"/>
          </a:p>
        </p:txBody>
      </p:sp>
      <p:sp>
        <p:nvSpPr>
          <p:cNvPr id="6" name="stat label ~10 yrs"/>
          <p:cNvSpPr txBox="1"/>
          <p:nvPr/>
        </p:nvSpPr>
        <p:spPr>
          <a:xfrm>
            <a:off x="4206240" y="2240280"/>
            <a:ext cx="3291840" cy="640080"/>
          </a:xfrm>
          <a:prstGeom prst="rect">
            <a:avLst/>
          </a:prstGeom>
          <a:noFill/>
          <a:ln/>
        </p:spPr>
        <p:txBody>
          <a:bodyPr wrap="square" lIns="0" tIns="0" rIns="0" bIns="0" rtlCol="0" anchor="t"/>
          <a:lstStyle/>
          <a:p>
            <a:pPr indent="0" marL="0">
              <a:buNone/>
            </a:pPr>
            <a:r>
              <a:rPr lang="en-US" sz="1200" dirty="0">
                <a:solidFill>
                  <a:schemeClr val="tx2"/>
                </a:solidFill>
              </a:rPr>
              <a:t>Karpathy's estimate to fix 'no continual learning' and related cognitive deficits (Oct 2025). Dwarkesh: the biggest bottleneck to usefulness.</a:t>
            </a:r>
            <a:endParaRPr lang="en-US" sz="1200" dirty="0"/>
          </a:p>
        </p:txBody>
      </p:sp>
      <p:sp>
        <p:nvSpPr>
          <p:cNvPr id="7" name="stat Feb 2026"/>
          <p:cNvSpPr txBox="1"/>
          <p:nvPr/>
        </p:nvSpPr>
        <p:spPr>
          <a:xfrm>
            <a:off x="7772400" y="1417320"/>
            <a:ext cx="3566160" cy="822960"/>
          </a:xfrm>
          <a:prstGeom prst="rect">
            <a:avLst/>
          </a:prstGeom>
          <a:noFill/>
          <a:ln/>
        </p:spPr>
        <p:txBody>
          <a:bodyPr wrap="square" lIns="0" tIns="0" rIns="0" bIns="0" rtlCol="0" anchor="ctr"/>
          <a:lstStyle/>
          <a:p>
            <a:pPr indent="0" marL="0">
              <a:buNone/>
            </a:pPr>
            <a:r>
              <a:rPr lang="en-US" sz="4000" b="1" dirty="0">
                <a:solidFill>
                  <a:schemeClr val="accent3"/>
                </a:solidFill>
              </a:rPr>
              <a:t>Feb 2026</a:t>
            </a:r>
            <a:endParaRPr lang="en-US" sz="4000" dirty="0"/>
          </a:p>
        </p:txBody>
      </p:sp>
      <p:sp>
        <p:nvSpPr>
          <p:cNvPr id="8" name="stat label Feb 2026"/>
          <p:cNvSpPr txBox="1"/>
          <p:nvPr/>
        </p:nvSpPr>
        <p:spPr>
          <a:xfrm>
            <a:off x="7772400" y="2240280"/>
            <a:ext cx="3566160" cy="640080"/>
          </a:xfrm>
          <a:prstGeom prst="rect">
            <a:avLst/>
          </a:prstGeom>
          <a:noFill/>
          <a:ln/>
        </p:spPr>
        <p:txBody>
          <a:bodyPr wrap="square" lIns="0" tIns="0" rIns="0" bIns="0" rtlCol="0" anchor="t"/>
          <a:lstStyle/>
          <a:p>
            <a:pPr indent="0" marL="0">
              <a:buNone/>
            </a:pPr>
            <a:r>
              <a:rPr lang="en-US" sz="1200" dirty="0">
                <a:solidFill>
                  <a:schemeClr val="tx2"/>
                </a:solidFill>
              </a:rPr>
              <a:t>OpenAI says early GPT-5.3-Codex was 'instrumental in creating itself'. RSI is in the pipeline, not yet in the deployed model.</a:t>
            </a:r>
            <a:endParaRPr lang="en-US" sz="1200" dirty="0"/>
          </a:p>
        </p:txBody>
      </p:sp>
      <p:sp>
        <p:nvSpPr>
          <p:cNvPr id="9" name="What's newly possible (Q1) card"/>
          <p:cNvSpPr/>
          <p:nvPr/>
        </p:nvSpPr>
        <p:spPr>
          <a:xfrm>
            <a:off x="640080" y="3154680"/>
            <a:ext cx="5303520" cy="2194560"/>
          </a:xfrm>
          <a:prstGeom prst="roundRect">
            <a:avLst>
              <a:gd name="adj" fmla="val 5000"/>
            </a:avLst>
          </a:prstGeom>
          <a:solidFill>
            <a:srgbClr val="F1EEE8"/>
          </a:solidFill>
          <a:ln w="12700">
            <a:solidFill>
              <a:srgbClr val="F1EEE8"/>
            </a:solidFill>
            <a:prstDash val="solid"/>
          </a:ln>
        </p:spPr>
      </p:sp>
      <p:sp>
        <p:nvSpPr>
          <p:cNvPr id="10" name="What&amp;apos;s newly possible (Q1) head"/>
          <p:cNvSpPr txBox="1"/>
          <p:nvPr/>
        </p:nvSpPr>
        <p:spPr>
          <a:xfrm>
            <a:off x="868680" y="3319272"/>
            <a:ext cx="4846320" cy="411480"/>
          </a:xfrm>
          <a:prstGeom prst="rect">
            <a:avLst/>
          </a:prstGeom>
          <a:noFill/>
          <a:ln/>
        </p:spPr>
        <p:txBody>
          <a:bodyPr wrap="square" lIns="0" tIns="0" rIns="0" bIns="0" rtlCol="0" anchor="ctr"/>
          <a:lstStyle/>
          <a:p>
            <a:pPr indent="0" marL="0">
              <a:buNone/>
            </a:pPr>
            <a:r>
              <a:rPr lang="en-US" sz="1600" b="1" dirty="0">
                <a:solidFill>
                  <a:schemeClr val="accent1"/>
                </a:solidFill>
              </a:rPr>
              <a:t>What's newly possible (Q1)</a:t>
            </a:r>
            <a:endParaRPr lang="en-US" sz="1600" dirty="0"/>
          </a:p>
        </p:txBody>
      </p:sp>
      <p:sp>
        <p:nvSpPr>
          <p:cNvPr id="11" name="What's newly possible (Q1) body"/>
          <p:cNvSpPr txBox="1"/>
          <p:nvPr/>
        </p:nvSpPr>
        <p:spPr>
          <a:xfrm>
            <a:off x="868680" y="3776472"/>
            <a:ext cx="4846320" cy="1417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Hours-long agent runs with memory that survives the run (Claude Managed Agents, Codex, Gemini agents)</a:t>
            </a:r>
            <a:endParaRPr lang="en-US" sz="1250" dirty="0"/>
          </a:p>
          <a:p>
            <a:pPr marL="342900" indent="-342900">
              <a:spcAft>
                <a:spcPts val="400"/>
              </a:spcAft>
              <a:buSzPct val="100000"/>
              <a:buChar char="•"/>
            </a:pPr>
            <a:r>
              <a:rPr lang="en-US" sz="1250" dirty="0">
                <a:solidFill>
                  <a:schemeClr val="tx1"/>
                </a:solidFill>
              </a:rPr>
              <a:t>Agents that improve between sessions without retraining: Dreaming, Letta sleep-time compute, A-MEM memory tools</a:t>
            </a:r>
            <a:endParaRPr lang="en-US" sz="1250" dirty="0"/>
          </a:p>
          <a:p>
            <a:pPr marL="342900" indent="-342900">
              <a:spcAft>
                <a:spcPts val="400"/>
              </a:spcAft>
              <a:buSzPct val="100000"/>
              <a:buChar char="•"/>
            </a:pPr>
            <a:r>
              <a:rPr lang="en-US" sz="1250" dirty="0">
                <a:solidFill>
                  <a:schemeClr val="tx1"/>
                </a:solidFill>
              </a:rPr>
              <a:t>Research models that update weights at inference: TTT-E2E matches full attention at 128K with 2.7x lower latency</a:t>
            </a:r>
            <a:endParaRPr lang="en-US" sz="1250" dirty="0"/>
          </a:p>
        </p:txBody>
      </p:sp>
      <p:sp>
        <p:nvSpPr>
          <p:cNvPr id="12" name="What still breaks with real users (Q3) card"/>
          <p:cNvSpPr/>
          <p:nvPr/>
        </p:nvSpPr>
        <p:spPr>
          <a:xfrm>
            <a:off x="6217920" y="3154680"/>
            <a:ext cx="5303520" cy="2194560"/>
          </a:xfrm>
          <a:prstGeom prst="roundRect">
            <a:avLst>
              <a:gd name="adj" fmla="val 5000"/>
            </a:avLst>
          </a:prstGeom>
          <a:solidFill>
            <a:srgbClr val="F1EEE8"/>
          </a:solidFill>
          <a:ln w="12700">
            <a:solidFill>
              <a:srgbClr val="F1EEE8"/>
            </a:solidFill>
            <a:prstDash val="solid"/>
          </a:ln>
        </p:spPr>
      </p:sp>
      <p:sp>
        <p:nvSpPr>
          <p:cNvPr id="13" name="What still breaks with real users (Q3) head"/>
          <p:cNvSpPr txBox="1"/>
          <p:nvPr/>
        </p:nvSpPr>
        <p:spPr>
          <a:xfrm>
            <a:off x="6446520" y="3319272"/>
            <a:ext cx="4846320" cy="411480"/>
          </a:xfrm>
          <a:prstGeom prst="rect">
            <a:avLst/>
          </a:prstGeom>
          <a:noFill/>
          <a:ln/>
        </p:spPr>
        <p:txBody>
          <a:bodyPr wrap="square" lIns="0" tIns="0" rIns="0" bIns="0" rtlCol="0" anchor="ctr"/>
          <a:lstStyle/>
          <a:p>
            <a:pPr indent="0" marL="0">
              <a:buNone/>
            </a:pPr>
            <a:r>
              <a:rPr lang="en-US" sz="1600" b="1" dirty="0">
                <a:solidFill>
                  <a:schemeClr val="accent2"/>
                </a:solidFill>
              </a:rPr>
              <a:t>What still breaks with real users (Q3)</a:t>
            </a:r>
            <a:endParaRPr lang="en-US" sz="1600" dirty="0"/>
          </a:p>
        </p:txBody>
      </p:sp>
      <p:sp>
        <p:nvSpPr>
          <p:cNvPr id="14" name="What still breaks with real users (Q3) body"/>
          <p:cNvSpPr txBox="1"/>
          <p:nvPr/>
        </p:nvSpPr>
        <p:spPr>
          <a:xfrm>
            <a:off x="6446520" y="3776472"/>
            <a:ext cx="4846320" cy="14173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Stale and contradictory memories: OpenAI shipped a fix in Jun 2026, it is still the top complaint</a:t>
            </a:r>
            <a:endParaRPr lang="en-US" sz="1250" dirty="0"/>
          </a:p>
          <a:p>
            <a:pPr marL="342900" indent="-342900">
              <a:spcAft>
                <a:spcPts val="400"/>
              </a:spcAft>
              <a:buSzPct val="100000"/>
              <a:buChar char="•"/>
            </a:pPr>
            <a:r>
              <a:rPr lang="en-US" sz="1250" dirty="0">
                <a:solidFill>
                  <a:schemeClr val="tx1"/>
                </a:solidFill>
              </a:rPr>
              <a:t>Memory that locks you in: no assistant remembers you across vendors</a:t>
            </a:r>
            <a:endParaRPr lang="en-US" sz="1250" dirty="0"/>
          </a:p>
          <a:p>
            <a:pPr marL="342900" indent="-342900">
              <a:spcAft>
                <a:spcPts val="400"/>
              </a:spcAft>
              <a:buSzPct val="100000"/>
              <a:buChar char="•"/>
            </a:pPr>
            <a:r>
              <a:rPr lang="en-US" sz="1250" dirty="0">
                <a:solidFill>
                  <a:schemeClr val="tx1"/>
                </a:solidFill>
              </a:rPr>
              <a:t>Memory poisoning: Microsoft logged 50+ real cases across 31 companies (Feb 2026); OWASP ASI06</a:t>
            </a:r>
            <a:endParaRPr lang="en-US" sz="1250" dirty="0"/>
          </a:p>
        </p:txBody>
      </p:sp>
      <p:sp>
        <p:nvSpPr>
          <p:cNvPr id="15" name="talk strip"/>
          <p:cNvSpPr/>
          <p:nvPr/>
        </p:nvSpPr>
        <p:spPr>
          <a:xfrm>
            <a:off x="640080" y="5532120"/>
            <a:ext cx="10881360" cy="731520"/>
          </a:xfrm>
          <a:prstGeom prst="roundRect">
            <a:avLst>
              <a:gd name="adj" fmla="val 12500"/>
            </a:avLst>
          </a:prstGeom>
          <a:solidFill>
            <a:srgbClr val="FDE4D3"/>
          </a:solidFill>
          <a:ln w="12700">
            <a:solidFill>
              <a:srgbClr val="FDE4D3"/>
            </a:solidFill>
            <a:prstDash val="solid"/>
          </a:ln>
        </p:spPr>
      </p:sp>
      <p:sp>
        <p:nvSpPr>
          <p:cNvPr id="16" name="talk text"/>
          <p:cNvSpPr txBox="1"/>
          <p:nvPr/>
        </p:nvSpPr>
        <p:spPr>
          <a:xfrm>
            <a:off x="822960" y="5577840"/>
            <a:ext cx="10515600" cy="640080"/>
          </a:xfrm>
          <a:prstGeom prst="rect">
            <a:avLst/>
          </a:prstGeom>
          <a:noFill/>
          <a:ln/>
        </p:spPr>
        <p:txBody>
          <a:bodyPr wrap="square" lIns="0" tIns="0" rIns="0" bIns="0" rtlCol="0" anchor="ctr"/>
          <a:lstStyle/>
          <a:p>
            <a:pPr indent="0" marL="0">
              <a:buNone/>
            </a:pPr>
            <a:r>
              <a:rPr lang="en-US" sz="1300" b="1" i="1" dirty="0">
                <a:solidFill>
                  <a:schemeClr val="accent1"/>
                </a:solidFill>
              </a:rPr>
              <a:t>Say: </a:t>
            </a:r>
            <a:pPr indent="0" marL="0">
              <a:buNone/>
            </a:pPr>
            <a:r>
              <a:rPr lang="en-US" sz="1300" i="1" dirty="0">
                <a:solidFill>
                  <a:schemeClr val="tx1"/>
                </a:solidFill>
              </a:rPr>
              <a:t>"Benchmarks measure what a model can do in one sitting. Users judge what it remembers next Tuesday. The second number is where the frontier actually is."</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777240"/>
          </a:xfrm>
          <a:prstGeom prst="rect">
            <a:avLst/>
          </a:prstGeom>
          <a:noFill/>
          <a:ln/>
        </p:spPr>
        <p:txBody>
          <a:bodyPr wrap="square" lIns="0" tIns="0" rIns="0" bIns="0" rtlCol="0"/>
          <a:lstStyle/>
          <a:p>
            <a:pPr algn="l" indent="0" marL="0">
              <a:buNone/>
            </a:pPr>
            <a:r>
              <a:rPr lang="en-US" sz="2600" b="1" dirty="0">
                <a:solidFill>
                  <a:schemeClr val="tx1"/>
                </a:solidFill>
              </a:rPr>
              <a:t>Continual learning: token space to weight space</a:t>
            </a:r>
            <a:endParaRPr lang="en-US" sz="2600" dirty="0"/>
          </a:p>
        </p:txBody>
      </p:sp>
      <p:sp>
        <p:nvSpPr>
          <p:cNvPr id="3" name="spec row 0"/>
          <p:cNvSpPr/>
          <p:nvPr/>
        </p:nvSpPr>
        <p:spPr>
          <a:xfrm>
            <a:off x="640080" y="1417320"/>
            <a:ext cx="10881360" cy="868680"/>
          </a:xfrm>
          <a:prstGeom prst="roundRect">
            <a:avLst>
              <a:gd name="adj" fmla="val 10526"/>
            </a:avLst>
          </a:prstGeom>
          <a:solidFill>
            <a:srgbClr val="F1EEE8"/>
          </a:solidFill>
          <a:ln w="12700">
            <a:solidFill>
              <a:srgbClr val="F1EEE8"/>
            </a:solidFill>
            <a:prstDash val="solid"/>
          </a:ln>
        </p:spPr>
      </p:sp>
      <p:sp>
        <p:nvSpPr>
          <p:cNvPr id="4" name="spec tag 0"/>
          <p:cNvSpPr/>
          <p:nvPr/>
        </p:nvSpPr>
        <p:spPr>
          <a:xfrm>
            <a:off x="777240" y="1554480"/>
            <a:ext cx="2103120" cy="594360"/>
          </a:xfrm>
          <a:prstGeom prst="roundRect">
            <a:avLst>
              <a:gd name="adj" fmla="val 12308"/>
            </a:avLst>
          </a:prstGeom>
          <a:solidFill>
            <a:srgbClr val="0F766E"/>
          </a:solidFill>
          <a:ln w="12700">
            <a:solidFill>
              <a:srgbClr val="0F766E"/>
            </a:solidFill>
            <a:prstDash val="solid"/>
          </a:ln>
        </p:spPr>
      </p:sp>
      <p:sp>
        <p:nvSpPr>
          <p:cNvPr id="5" name="spec name 0"/>
          <p:cNvSpPr txBox="1"/>
          <p:nvPr/>
        </p:nvSpPr>
        <p:spPr>
          <a:xfrm>
            <a:off x="777240" y="1554480"/>
            <a:ext cx="2103120" cy="594360"/>
          </a:xfrm>
          <a:prstGeom prst="rect">
            <a:avLst/>
          </a:prstGeom>
          <a:noFill/>
          <a:ln/>
        </p:spPr>
        <p:txBody>
          <a:bodyPr wrap="square" lIns="0" tIns="0" rIns="0" bIns="0" rtlCol="0" anchor="ctr"/>
          <a:lstStyle/>
          <a:p>
            <a:pPr algn="ctr" indent="0" marL="0">
              <a:buNone/>
            </a:pPr>
            <a:r>
              <a:rPr lang="en-US" sz="1300" b="1" dirty="0">
                <a:solidFill>
                  <a:schemeClr val="bg1"/>
                </a:solidFill>
              </a:rPr>
              <a:t>Token space</a:t>
            </a:r>
            <a:endParaRPr lang="en-US" sz="1300" dirty="0"/>
          </a:p>
        </p:txBody>
      </p:sp>
      <p:sp>
        <p:nvSpPr>
          <p:cNvPr id="6" name="spec what 0"/>
          <p:cNvSpPr txBox="1"/>
          <p:nvPr/>
        </p:nvSpPr>
        <p:spPr>
          <a:xfrm>
            <a:off x="3063240" y="1508760"/>
            <a:ext cx="2651760" cy="685800"/>
          </a:xfrm>
          <a:prstGeom prst="rect">
            <a:avLst/>
          </a:prstGeom>
          <a:noFill/>
          <a:ln/>
        </p:spPr>
        <p:txBody>
          <a:bodyPr wrap="square" lIns="0" tIns="0" rIns="0" bIns="0" rtlCol="0" anchor="ctr"/>
          <a:lstStyle/>
          <a:p>
            <a:pPr indent="0" marL="0">
              <a:buNone/>
            </a:pPr>
            <a:r>
              <a:rPr lang="en-US" sz="1250" b="1" dirty="0">
                <a:solidFill>
                  <a:schemeClr val="tx1"/>
                </a:solidFill>
              </a:rPr>
              <a:t>Memory notes, playbooks, skills files</a:t>
            </a:r>
            <a:endParaRPr lang="en-US" sz="1250" dirty="0"/>
          </a:p>
        </p:txBody>
      </p:sp>
      <p:sp>
        <p:nvSpPr>
          <p:cNvPr id="7" name="spec ex 0"/>
          <p:cNvSpPr txBox="1"/>
          <p:nvPr/>
        </p:nvSpPr>
        <p:spPr>
          <a:xfrm>
            <a:off x="5852160" y="1508760"/>
            <a:ext cx="3931920" cy="685800"/>
          </a:xfrm>
          <a:prstGeom prst="rect">
            <a:avLst/>
          </a:prstGeom>
          <a:noFill/>
          <a:ln/>
        </p:spPr>
        <p:txBody>
          <a:bodyPr wrap="square" lIns="0" tIns="0" rIns="0" bIns="0" rtlCol="0" anchor="ctr"/>
          <a:lstStyle/>
          <a:p>
            <a:pPr indent="0" marL="0">
              <a:buNone/>
            </a:pPr>
            <a:r>
              <a:rPr lang="en-US" sz="1150" dirty="0">
                <a:solidFill>
                  <a:schemeClr val="tx2"/>
                </a:solidFill>
              </a:rPr>
              <a:t>Letta 'continual learning in token space'; Claude Dreaming; Claude Code memory &amp; skills; A-MEM</a:t>
            </a:r>
            <a:endParaRPr lang="en-US" sz="1150" dirty="0"/>
          </a:p>
        </p:txBody>
      </p:sp>
      <p:sp>
        <p:nvSpPr>
          <p:cNvPr id="8" name="spec status 0"/>
          <p:cNvSpPr txBox="1"/>
          <p:nvPr/>
        </p:nvSpPr>
        <p:spPr>
          <a:xfrm>
            <a:off x="9921240" y="1508760"/>
            <a:ext cx="1508760" cy="685800"/>
          </a:xfrm>
          <a:prstGeom prst="rect">
            <a:avLst/>
          </a:prstGeom>
          <a:noFill/>
          <a:ln/>
        </p:spPr>
        <p:txBody>
          <a:bodyPr wrap="square" lIns="0" tIns="0" rIns="0" bIns="0" rtlCol="0" anchor="ctr"/>
          <a:lstStyle/>
          <a:p>
            <a:pPr algn="r" indent="0" marL="0">
              <a:buNone/>
            </a:pPr>
            <a:r>
              <a:rPr lang="en-US" sz="1150" i="1" dirty="0">
                <a:solidFill>
                  <a:schemeClr val="accent1"/>
                </a:solidFill>
              </a:rPr>
              <a:t>Shipping at scale</a:t>
            </a:r>
            <a:endParaRPr lang="en-US" sz="1150" dirty="0"/>
          </a:p>
        </p:txBody>
      </p:sp>
      <p:sp>
        <p:nvSpPr>
          <p:cNvPr id="9" name="spec row 1"/>
          <p:cNvSpPr/>
          <p:nvPr/>
        </p:nvSpPr>
        <p:spPr>
          <a:xfrm>
            <a:off x="640080" y="2404872"/>
            <a:ext cx="10881360" cy="868680"/>
          </a:xfrm>
          <a:prstGeom prst="roundRect">
            <a:avLst>
              <a:gd name="adj" fmla="val 10526"/>
            </a:avLst>
          </a:prstGeom>
          <a:solidFill>
            <a:srgbClr val="F1EEE8"/>
          </a:solidFill>
          <a:ln w="12700">
            <a:solidFill>
              <a:srgbClr val="F1EEE8"/>
            </a:solidFill>
            <a:prstDash val="solid"/>
          </a:ln>
        </p:spPr>
      </p:sp>
      <p:sp>
        <p:nvSpPr>
          <p:cNvPr id="10" name="spec tag 1"/>
          <p:cNvSpPr/>
          <p:nvPr/>
        </p:nvSpPr>
        <p:spPr>
          <a:xfrm>
            <a:off x="777240" y="2542032"/>
            <a:ext cx="2103120" cy="594360"/>
          </a:xfrm>
          <a:prstGeom prst="roundRect">
            <a:avLst>
              <a:gd name="adj" fmla="val 12308"/>
            </a:avLst>
          </a:prstGeom>
          <a:solidFill>
            <a:srgbClr val="7C3AED"/>
          </a:solidFill>
          <a:ln w="12700">
            <a:solidFill>
              <a:srgbClr val="7C3AED"/>
            </a:solidFill>
            <a:prstDash val="solid"/>
          </a:ln>
        </p:spPr>
      </p:sp>
      <p:sp>
        <p:nvSpPr>
          <p:cNvPr id="11" name="spec name 1"/>
          <p:cNvSpPr txBox="1"/>
          <p:nvPr/>
        </p:nvSpPr>
        <p:spPr>
          <a:xfrm>
            <a:off x="777240" y="2542032"/>
            <a:ext cx="2103120" cy="594360"/>
          </a:xfrm>
          <a:prstGeom prst="rect">
            <a:avLst/>
          </a:prstGeom>
          <a:noFill/>
          <a:ln/>
        </p:spPr>
        <p:txBody>
          <a:bodyPr wrap="square" lIns="0" tIns="0" rIns="0" bIns="0" rtlCol="0" anchor="ctr"/>
          <a:lstStyle/>
          <a:p>
            <a:pPr algn="ctr" indent="0" marL="0">
              <a:buNone/>
            </a:pPr>
            <a:r>
              <a:rPr lang="en-US" sz="1300" b="1" dirty="0">
                <a:solidFill>
                  <a:schemeClr val="bg1"/>
                </a:solidFill>
              </a:rPr>
              <a:t>Retrieved experience</a:t>
            </a:r>
            <a:endParaRPr lang="en-US" sz="1300" dirty="0"/>
          </a:p>
        </p:txBody>
      </p:sp>
      <p:sp>
        <p:nvSpPr>
          <p:cNvPr id="12" name="spec what 1"/>
          <p:cNvSpPr txBox="1"/>
          <p:nvPr/>
        </p:nvSpPr>
        <p:spPr>
          <a:xfrm>
            <a:off x="3063240" y="2496312"/>
            <a:ext cx="2651760" cy="685800"/>
          </a:xfrm>
          <a:prstGeom prst="rect">
            <a:avLst/>
          </a:prstGeom>
          <a:noFill/>
          <a:ln/>
        </p:spPr>
        <p:txBody>
          <a:bodyPr wrap="square" lIns="0" tIns="0" rIns="0" bIns="0" rtlCol="0" anchor="ctr"/>
          <a:lstStyle/>
          <a:p>
            <a:pPr indent="0" marL="0">
              <a:buNone/>
            </a:pPr>
            <a:r>
              <a:rPr lang="en-US" sz="1250" b="1" dirty="0">
                <a:solidFill>
                  <a:schemeClr val="tx1"/>
                </a:solidFill>
              </a:rPr>
              <a:t>Store trajectories, retrieve on new task</a:t>
            </a:r>
            <a:endParaRPr lang="en-US" sz="1250" dirty="0"/>
          </a:p>
        </p:txBody>
      </p:sp>
      <p:sp>
        <p:nvSpPr>
          <p:cNvPr id="13" name="spec ex 1"/>
          <p:cNvSpPr txBox="1"/>
          <p:nvPr/>
        </p:nvSpPr>
        <p:spPr>
          <a:xfrm>
            <a:off x="5852160" y="2496312"/>
            <a:ext cx="3931920" cy="685800"/>
          </a:xfrm>
          <a:prstGeom prst="rect">
            <a:avLst/>
          </a:prstGeom>
          <a:noFill/>
          <a:ln/>
        </p:spPr>
        <p:txBody>
          <a:bodyPr wrap="square" lIns="0" tIns="0" rIns="0" bIns="0" rtlCol="0" anchor="ctr"/>
          <a:lstStyle/>
          <a:p>
            <a:pPr indent="0" marL="0">
              <a:buNone/>
            </a:pPr>
            <a:r>
              <a:rPr lang="en-US" sz="1150" dirty="0">
                <a:solidFill>
                  <a:schemeClr val="tx2"/>
                </a:solidFill>
              </a:rPr>
              <a:t>'Learning on the Job' (frozen-weights agents); experience reuse studies; MemPro evolvable memory programs</a:t>
            </a:r>
            <a:endParaRPr lang="en-US" sz="1150" dirty="0"/>
          </a:p>
        </p:txBody>
      </p:sp>
      <p:sp>
        <p:nvSpPr>
          <p:cNvPr id="14" name="spec status 1"/>
          <p:cNvSpPr txBox="1"/>
          <p:nvPr/>
        </p:nvSpPr>
        <p:spPr>
          <a:xfrm>
            <a:off x="9921240" y="2496312"/>
            <a:ext cx="1508760" cy="685800"/>
          </a:xfrm>
          <a:prstGeom prst="rect">
            <a:avLst/>
          </a:prstGeom>
          <a:noFill/>
          <a:ln/>
        </p:spPr>
        <p:txBody>
          <a:bodyPr wrap="square" lIns="0" tIns="0" rIns="0" bIns="0" rtlCol="0" anchor="ctr"/>
          <a:lstStyle/>
          <a:p>
            <a:pPr algn="r" indent="0" marL="0">
              <a:buNone/>
            </a:pPr>
            <a:r>
              <a:rPr lang="en-US" sz="1150" i="1" dirty="0">
                <a:solidFill>
                  <a:schemeClr val="accent1"/>
                </a:solidFill>
              </a:rPr>
              <a:t>Production pilots</a:t>
            </a:r>
            <a:endParaRPr lang="en-US" sz="1150" dirty="0"/>
          </a:p>
        </p:txBody>
      </p:sp>
      <p:sp>
        <p:nvSpPr>
          <p:cNvPr id="15" name="spec row 2"/>
          <p:cNvSpPr/>
          <p:nvPr/>
        </p:nvSpPr>
        <p:spPr>
          <a:xfrm>
            <a:off x="640080" y="3392424"/>
            <a:ext cx="10881360" cy="868680"/>
          </a:xfrm>
          <a:prstGeom prst="roundRect">
            <a:avLst>
              <a:gd name="adj" fmla="val 10526"/>
            </a:avLst>
          </a:prstGeom>
          <a:solidFill>
            <a:srgbClr val="F1EEE8"/>
          </a:solidFill>
          <a:ln w="12700">
            <a:solidFill>
              <a:srgbClr val="F1EEE8"/>
            </a:solidFill>
            <a:prstDash val="solid"/>
          </a:ln>
        </p:spPr>
      </p:sp>
      <p:sp>
        <p:nvSpPr>
          <p:cNvPr id="16" name="spec tag 2"/>
          <p:cNvSpPr/>
          <p:nvPr/>
        </p:nvSpPr>
        <p:spPr>
          <a:xfrm>
            <a:off x="777240" y="3529584"/>
            <a:ext cx="2103120" cy="594360"/>
          </a:xfrm>
          <a:prstGeom prst="roundRect">
            <a:avLst>
              <a:gd name="adj" fmla="val 12308"/>
            </a:avLst>
          </a:prstGeom>
          <a:solidFill>
            <a:srgbClr val="F59E0B"/>
          </a:solidFill>
          <a:ln w="12700">
            <a:solidFill>
              <a:srgbClr val="F59E0B"/>
            </a:solidFill>
            <a:prstDash val="solid"/>
          </a:ln>
        </p:spPr>
      </p:sp>
      <p:sp>
        <p:nvSpPr>
          <p:cNvPr id="17" name="spec name 2"/>
          <p:cNvSpPr txBox="1"/>
          <p:nvPr/>
        </p:nvSpPr>
        <p:spPr>
          <a:xfrm>
            <a:off x="777240" y="3529584"/>
            <a:ext cx="2103120" cy="594360"/>
          </a:xfrm>
          <a:prstGeom prst="rect">
            <a:avLst/>
          </a:prstGeom>
          <a:noFill/>
          <a:ln/>
        </p:spPr>
        <p:txBody>
          <a:bodyPr wrap="square" lIns="0" tIns="0" rIns="0" bIns="0" rtlCol="0" anchor="ctr"/>
          <a:lstStyle/>
          <a:p>
            <a:pPr algn="ctr" indent="0" marL="0">
              <a:buNone/>
            </a:pPr>
            <a:r>
              <a:rPr lang="en-US" sz="1300" b="1" dirty="0">
                <a:solidFill>
                  <a:schemeClr val="bg1"/>
                </a:solidFill>
              </a:rPr>
              <a:t>Lightweight parametric</a:t>
            </a:r>
            <a:endParaRPr lang="en-US" sz="1300" dirty="0"/>
          </a:p>
        </p:txBody>
      </p:sp>
      <p:sp>
        <p:nvSpPr>
          <p:cNvPr id="18" name="spec what 2"/>
          <p:cNvSpPr txBox="1"/>
          <p:nvPr/>
        </p:nvSpPr>
        <p:spPr>
          <a:xfrm>
            <a:off x="3063240" y="3483864"/>
            <a:ext cx="2651760" cy="685800"/>
          </a:xfrm>
          <a:prstGeom prst="rect">
            <a:avLst/>
          </a:prstGeom>
          <a:noFill/>
          <a:ln/>
        </p:spPr>
        <p:txBody>
          <a:bodyPr wrap="square" lIns="0" tIns="0" rIns="0" bIns="0" rtlCol="0" anchor="ctr"/>
          <a:lstStyle/>
          <a:p>
            <a:pPr indent="0" marL="0">
              <a:buNone/>
            </a:pPr>
            <a:r>
              <a:rPr lang="en-US" sz="1250" b="1" dirty="0">
                <a:solidFill>
                  <a:schemeClr val="tx1"/>
                </a:solidFill>
              </a:rPr>
              <a:t>Per-user or per-task adapters, local edits</a:t>
            </a:r>
            <a:endParaRPr lang="en-US" sz="1250" dirty="0"/>
          </a:p>
        </p:txBody>
      </p:sp>
      <p:sp>
        <p:nvSpPr>
          <p:cNvPr id="19" name="spec ex 2"/>
          <p:cNvSpPr txBox="1"/>
          <p:nvPr/>
        </p:nvSpPr>
        <p:spPr>
          <a:xfrm>
            <a:off x="5852160" y="3483864"/>
            <a:ext cx="3931920" cy="685800"/>
          </a:xfrm>
          <a:prstGeom prst="rect">
            <a:avLst/>
          </a:prstGeom>
          <a:noFill/>
          <a:ln/>
        </p:spPr>
        <p:txBody>
          <a:bodyPr wrap="square" lIns="0" tIns="0" rIns="0" bIns="0" rtlCol="0" anchor="ctr"/>
          <a:lstStyle/>
          <a:p>
            <a:pPr indent="0" marL="0">
              <a:buNone/>
            </a:pPr>
            <a:r>
              <a:rPr lang="en-US" sz="1150" dirty="0">
                <a:solidFill>
                  <a:schemeClr val="tx2"/>
                </a:solidFill>
              </a:rPr>
              <a:t>User-as-Engram parametric edits; hypernetwork-emitted LoRA; PRISP; S-LoRA / PLoRA serving</a:t>
            </a:r>
            <a:endParaRPr lang="en-US" sz="1150" dirty="0"/>
          </a:p>
        </p:txBody>
      </p:sp>
      <p:sp>
        <p:nvSpPr>
          <p:cNvPr id="20" name="spec status 2"/>
          <p:cNvSpPr txBox="1"/>
          <p:nvPr/>
        </p:nvSpPr>
        <p:spPr>
          <a:xfrm>
            <a:off x="9921240" y="3483864"/>
            <a:ext cx="1508760" cy="685800"/>
          </a:xfrm>
          <a:prstGeom prst="rect">
            <a:avLst/>
          </a:prstGeom>
          <a:noFill/>
          <a:ln/>
        </p:spPr>
        <p:txBody>
          <a:bodyPr wrap="square" lIns="0" tIns="0" rIns="0" bIns="0" rtlCol="0" anchor="ctr"/>
          <a:lstStyle/>
          <a:p>
            <a:pPr algn="r" indent="0" marL="0">
              <a:buNone/>
            </a:pPr>
            <a:r>
              <a:rPr lang="en-US" sz="1150" i="1" dirty="0">
                <a:solidFill>
                  <a:schemeClr val="accent1"/>
                </a:solidFill>
              </a:rPr>
              <a:t>Research, early products</a:t>
            </a:r>
            <a:endParaRPr lang="en-US" sz="1150" dirty="0"/>
          </a:p>
        </p:txBody>
      </p:sp>
      <p:sp>
        <p:nvSpPr>
          <p:cNvPr id="21" name="spec row 3"/>
          <p:cNvSpPr/>
          <p:nvPr/>
        </p:nvSpPr>
        <p:spPr>
          <a:xfrm>
            <a:off x="640080" y="4379976"/>
            <a:ext cx="10881360" cy="868680"/>
          </a:xfrm>
          <a:prstGeom prst="roundRect">
            <a:avLst>
              <a:gd name="adj" fmla="val 10526"/>
            </a:avLst>
          </a:prstGeom>
          <a:solidFill>
            <a:srgbClr val="F1EEE8"/>
          </a:solidFill>
          <a:ln w="12700">
            <a:solidFill>
              <a:srgbClr val="F1EEE8"/>
            </a:solidFill>
            <a:prstDash val="solid"/>
          </a:ln>
        </p:spPr>
      </p:sp>
      <p:sp>
        <p:nvSpPr>
          <p:cNvPr id="22" name="spec tag 3"/>
          <p:cNvSpPr/>
          <p:nvPr/>
        </p:nvSpPr>
        <p:spPr>
          <a:xfrm>
            <a:off x="777240" y="4517136"/>
            <a:ext cx="2103120" cy="594360"/>
          </a:xfrm>
          <a:prstGeom prst="roundRect">
            <a:avLst>
              <a:gd name="adj" fmla="val 12308"/>
            </a:avLst>
          </a:prstGeom>
          <a:solidFill>
            <a:srgbClr val="C2410C"/>
          </a:solidFill>
          <a:ln w="12700">
            <a:solidFill>
              <a:srgbClr val="C2410C"/>
            </a:solidFill>
            <a:prstDash val="solid"/>
          </a:ln>
        </p:spPr>
      </p:sp>
      <p:sp>
        <p:nvSpPr>
          <p:cNvPr id="23" name="spec name 3"/>
          <p:cNvSpPr txBox="1"/>
          <p:nvPr/>
        </p:nvSpPr>
        <p:spPr>
          <a:xfrm>
            <a:off x="777240" y="4517136"/>
            <a:ext cx="2103120" cy="594360"/>
          </a:xfrm>
          <a:prstGeom prst="rect">
            <a:avLst/>
          </a:prstGeom>
          <a:noFill/>
          <a:ln/>
        </p:spPr>
        <p:txBody>
          <a:bodyPr wrap="square" lIns="0" tIns="0" rIns="0" bIns="0" rtlCol="0" anchor="ctr"/>
          <a:lstStyle/>
          <a:p>
            <a:pPr algn="ctr" indent="0" marL="0">
              <a:buNone/>
            </a:pPr>
            <a:r>
              <a:rPr lang="en-US" sz="1300" b="1" dirty="0">
                <a:solidFill>
                  <a:schemeClr val="bg1"/>
                </a:solidFill>
              </a:rPr>
              <a:t>Weights at inference</a:t>
            </a:r>
            <a:endParaRPr lang="en-US" sz="1300" dirty="0"/>
          </a:p>
        </p:txBody>
      </p:sp>
      <p:sp>
        <p:nvSpPr>
          <p:cNvPr id="24" name="spec what 3"/>
          <p:cNvSpPr txBox="1"/>
          <p:nvPr/>
        </p:nvSpPr>
        <p:spPr>
          <a:xfrm>
            <a:off x="3063240" y="4471416"/>
            <a:ext cx="2651760" cy="685800"/>
          </a:xfrm>
          <a:prstGeom prst="rect">
            <a:avLst/>
          </a:prstGeom>
          <a:noFill/>
          <a:ln/>
        </p:spPr>
        <p:txBody>
          <a:bodyPr wrap="square" lIns="0" tIns="0" rIns="0" bIns="0" rtlCol="0" anchor="ctr"/>
          <a:lstStyle/>
          <a:p>
            <a:pPr indent="0" marL="0">
              <a:buNone/>
            </a:pPr>
            <a:r>
              <a:rPr lang="en-US" sz="1250" b="1" dirty="0">
                <a:solidFill>
                  <a:schemeClr val="tx1"/>
                </a:solidFill>
              </a:rPr>
              <a:t>Model compresses context into its own parameters</a:t>
            </a:r>
            <a:endParaRPr lang="en-US" sz="1250" dirty="0"/>
          </a:p>
        </p:txBody>
      </p:sp>
      <p:sp>
        <p:nvSpPr>
          <p:cNvPr id="25" name="spec ex 3"/>
          <p:cNvSpPr txBox="1"/>
          <p:nvPr/>
        </p:nvSpPr>
        <p:spPr>
          <a:xfrm>
            <a:off x="5852160" y="4471416"/>
            <a:ext cx="3931920" cy="685800"/>
          </a:xfrm>
          <a:prstGeom prst="rect">
            <a:avLst/>
          </a:prstGeom>
          <a:noFill/>
          <a:ln/>
        </p:spPr>
        <p:txBody>
          <a:bodyPr wrap="square" lIns="0" tIns="0" rIns="0" bIns="0" rtlCol="0" anchor="ctr"/>
          <a:lstStyle/>
          <a:p>
            <a:pPr indent="0" marL="0">
              <a:buNone/>
            </a:pPr>
            <a:r>
              <a:rPr lang="en-US" sz="1150" dirty="0">
                <a:solidFill>
                  <a:schemeClr val="tx2"/>
                </a:solidFill>
              </a:rPr>
              <a:t>TTT-E2E (NVIDIA/Stanford/Berkeley); Titans, Nested Learning / Hope, CMS (Google); Memoir</a:t>
            </a:r>
            <a:endParaRPr lang="en-US" sz="1150" dirty="0"/>
          </a:p>
        </p:txBody>
      </p:sp>
      <p:sp>
        <p:nvSpPr>
          <p:cNvPr id="26" name="spec status 3"/>
          <p:cNvSpPr txBox="1"/>
          <p:nvPr/>
        </p:nvSpPr>
        <p:spPr>
          <a:xfrm>
            <a:off x="9921240" y="4471416"/>
            <a:ext cx="1508760" cy="685800"/>
          </a:xfrm>
          <a:prstGeom prst="rect">
            <a:avLst/>
          </a:prstGeom>
          <a:noFill/>
          <a:ln/>
        </p:spPr>
        <p:txBody>
          <a:bodyPr wrap="square" lIns="0" tIns="0" rIns="0" bIns="0" rtlCol="0" anchor="ctr"/>
          <a:lstStyle/>
          <a:p>
            <a:pPr algn="r" indent="0" marL="0">
              <a:buNone/>
            </a:pPr>
            <a:r>
              <a:rPr lang="en-US" sz="1150" i="1" dirty="0">
                <a:solidFill>
                  <a:schemeClr val="accent1"/>
                </a:solidFill>
              </a:rPr>
              <a:t>Research, scaling up</a:t>
            </a:r>
            <a:endParaRPr lang="en-US" sz="1150" dirty="0"/>
          </a:p>
        </p:txBody>
      </p:sp>
      <p:sp>
        <p:nvSpPr>
          <p:cNvPr id="27" name="talk strip"/>
          <p:cNvSpPr/>
          <p:nvPr/>
        </p:nvSpPr>
        <p:spPr>
          <a:xfrm>
            <a:off x="640080" y="5532120"/>
            <a:ext cx="10881360" cy="731520"/>
          </a:xfrm>
          <a:prstGeom prst="roundRect">
            <a:avLst>
              <a:gd name="adj" fmla="val 12500"/>
            </a:avLst>
          </a:prstGeom>
          <a:solidFill>
            <a:srgbClr val="FDE4D3"/>
          </a:solidFill>
          <a:ln w="12700">
            <a:solidFill>
              <a:srgbClr val="FDE4D3"/>
            </a:solidFill>
            <a:prstDash val="solid"/>
          </a:ln>
        </p:spPr>
      </p:sp>
      <p:sp>
        <p:nvSpPr>
          <p:cNvPr id="28" name="talk text"/>
          <p:cNvSpPr txBox="1"/>
          <p:nvPr/>
        </p:nvSpPr>
        <p:spPr>
          <a:xfrm>
            <a:off x="822960" y="5577840"/>
            <a:ext cx="10515600" cy="640080"/>
          </a:xfrm>
          <a:prstGeom prst="rect">
            <a:avLst/>
          </a:prstGeom>
          <a:noFill/>
          <a:ln/>
        </p:spPr>
        <p:txBody>
          <a:bodyPr wrap="square" lIns="0" tIns="0" rIns="0" bIns="0" rtlCol="0" anchor="ctr"/>
          <a:lstStyle/>
          <a:p>
            <a:pPr indent="0" marL="0">
              <a:buNone/>
            </a:pPr>
            <a:r>
              <a:rPr lang="en-US" sz="1300" b="1" i="1" dirty="0">
                <a:solidFill>
                  <a:schemeClr val="accent1"/>
                </a:solidFill>
              </a:rPr>
              <a:t>Say: </a:t>
            </a:r>
            <a:pPr indent="0" marL="0">
              <a:buNone/>
            </a:pPr>
            <a:r>
              <a:rPr lang="en-US" sz="1300" i="1" dirty="0">
                <a:solidFill>
                  <a:schemeClr val="tx1"/>
                </a:solidFill>
              </a:rPr>
              <a:t>"The industry is climbing this ladder bottom-up. Token-space learning won 2026 because it is auditable and reversible. Weight-space learning wins when it compounds, and we are not there in production yet."</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lstStyle/>
          <a:p>
            <a:pPr algn="l" indent="0" marL="0">
              <a:buNone/>
            </a:pPr>
            <a:r>
              <a:rPr lang="en-US" sz="3800" b="1" dirty="0">
                <a:solidFill>
                  <a:schemeClr val="bg1"/>
                </a:solidFill>
              </a:rPr>
              <a:t>Round 2 · Smarter model or smarter system?</a:t>
            </a:r>
            <a:endParaRPr lang="en-US" sz="3800" dirty="0"/>
          </a:p>
        </p:txBody>
      </p:sp>
      <p:sp>
        <p:nvSpPr>
          <p:cNvPr id="3" name="Text 0"/>
          <p:cNvSpPr/>
          <p:nvPr>
            <p:ph idx="101" type="body" hasCustomPrompt="1"/>
          </p:nvPr>
        </p:nvSpPr>
        <p:spPr>
          <a:xfrm>
            <a:off x="731520" y="3794760"/>
            <a:ext cx="10058400" cy="1280160"/>
          </a:xfrm>
          <a:prstGeom prst="rect">
            <a:avLst/>
          </a:prstGeom>
          <a:noFill/>
          <a:ln/>
        </p:spPr>
        <p:txBody>
          <a:bodyPr wrap="square" lIns="0" tIns="0" rIns="0" bIns="0" rtlCol="0"/>
          <a:lstStyle/>
          <a:p>
            <a:pPr algn="l" indent="0" marL="0">
              <a:buNone/>
            </a:pPr>
            <a:r>
              <a:rPr lang="en-US" sz="2000" dirty="0">
                <a:solidFill>
                  <a:schemeClr val="accent6"/>
                </a:solidFill>
              </a:rPr>
              <a:t>My angle: memory inside vs. outside the model, open vs. closed. Pick: B today, A over time. The system is where learning happens now; the model is where it gets amortized.</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777240"/>
          </a:xfrm>
          <a:prstGeom prst="rect">
            <a:avLst/>
          </a:prstGeom>
          <a:noFill/>
          <a:ln/>
        </p:spPr>
        <p:txBody>
          <a:bodyPr wrap="square" lIns="0" tIns="0" rIns="0" bIns="0" rtlCol="0"/>
          <a:lstStyle/>
          <a:p>
            <a:pPr algn="l" indent="0" marL="0">
              <a:buNone/>
            </a:pPr>
            <a:r>
              <a:rPr lang="en-US" sz="2600" b="1" dirty="0">
                <a:solidFill>
                  <a:schemeClr val="tx1"/>
                </a:solidFill>
              </a:rPr>
              <a:t>Agentic memory or post-training? A decision rule</a:t>
            </a:r>
            <a:endParaRPr lang="en-US" sz="2600" dirty="0"/>
          </a:p>
        </p:txBody>
      </p:sp>
      <p:graphicFrame>
        <p:nvGraphicFramePr>
          <p:cNvPr id="11" name="decision table"/>
          <p:cNvGraphicFramePr>
            <a:graphicFrameLocks noGrp="1"/>
          </p:cNvGraphicFramePr>
          <p:nvPr>
            <p:extLst>
              <p:ext uri="{D42A27DB-BD31-4B8C-83A1-F6EECF244321}">
                <p14:modId xmlns:p14="http://schemas.microsoft.com/office/powerpoint/2010/main" val="1579011935"/>
              </p:ext>
            </p:extLst>
          </p:nvPr>
        </p:nvGraphicFramePr>
        <p:xfrm>
          <a:off x="640080" y="1371600"/>
          <a:ext cx="10881360" cy="914400"/>
        </p:xfrm>
        <a:graphic>
          <a:graphicData uri="http://schemas.openxmlformats.org/drawingml/2006/table">
            <a:tbl>
              <a:tblPr/>
              <a:tblGrid>
                <a:gridCol w="2286000"/>
                <a:gridCol w="3108960"/>
                <a:gridCol w="2194560"/>
                <a:gridCol w="3291840"/>
              </a:tblGrid>
              <a:tr h="566928">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Knowledge type</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181F"/>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Example</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181F"/>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Put it</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181F"/>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181F"/>
                    </a:solidFill>
                  </a:tcPr>
                </a:tc>
              </a:tr>
              <a:tr h="566928">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Changes often, per user</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EE8"/>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Preferences, projects, names, open threads</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EE8"/>
                    </a:solidFill>
                  </a:tcPr>
                </a:tc>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Outside (store)</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EE8"/>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Must be editable and deletable; privacy law requires it</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EE8"/>
                    </a:solidFill>
                  </a:tcPr>
                </a:tc>
              </a:tr>
              <a:tr h="566928">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Stable, shared across users</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Domain conventions, house style, tool quirks</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Inside (post-train)</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Amortize once, serve to everyone, cheaper per token</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Procedural skill</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EE8"/>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How to do a task well in this harness</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EE8"/>
                    </a:solidFill>
                  </a:tcPr>
                </a:tc>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Both: notes first, weights later</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EE8"/>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Dreaming/skills capture it in text; next model release trains it in</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EE8"/>
                    </a:solidFill>
                  </a:tcPr>
                </a:tc>
              </a:tr>
              <a:tr h="566928">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Needs provenance</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Anything an auditor, lawyer, or user will ask about</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Outside</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Weights cannot answer 'why did you believe that'</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Latency-critical, long history</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EE8"/>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Months of context on every call</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EE8"/>
                    </a:solidFill>
                  </a:tcPr>
                </a:tc>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Inside (TTT / compression)</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EE8"/>
                    </a:solidFill>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Constant-latency weight updates beat re-reading 1M tokens</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1EEE8"/>
                    </a:solidFill>
                  </a:tcPr>
                </a:tc>
              </a:tr>
            </a:tbl>
          </a:graphicData>
        </a:graphic>
      </p:graphicFrame>
      <p:sp>
        <p:nvSpPr>
          <p:cNvPr id="4" name="talk strip"/>
          <p:cNvSpPr/>
          <p:nvPr/>
        </p:nvSpPr>
        <p:spPr>
          <a:xfrm>
            <a:off x="640080" y="5532120"/>
            <a:ext cx="10881360" cy="731520"/>
          </a:xfrm>
          <a:prstGeom prst="roundRect">
            <a:avLst>
              <a:gd name="adj" fmla="val 12500"/>
            </a:avLst>
          </a:prstGeom>
          <a:solidFill>
            <a:srgbClr val="FDE4D3"/>
          </a:solidFill>
          <a:ln w="12700">
            <a:solidFill>
              <a:srgbClr val="FDE4D3"/>
            </a:solidFill>
            <a:prstDash val="solid"/>
          </a:ln>
        </p:spPr>
      </p:sp>
      <p:sp>
        <p:nvSpPr>
          <p:cNvPr id="5" name="talk text"/>
          <p:cNvSpPr txBox="1"/>
          <p:nvPr/>
        </p:nvSpPr>
        <p:spPr>
          <a:xfrm>
            <a:off x="822960" y="5577840"/>
            <a:ext cx="10515600" cy="640080"/>
          </a:xfrm>
          <a:prstGeom prst="rect">
            <a:avLst/>
          </a:prstGeom>
          <a:noFill/>
          <a:ln/>
        </p:spPr>
        <p:txBody>
          <a:bodyPr wrap="square" lIns="0" tIns="0" rIns="0" bIns="0" rtlCol="0" anchor="ctr"/>
          <a:lstStyle/>
          <a:p>
            <a:pPr indent="0" marL="0">
              <a:buNone/>
            </a:pPr>
            <a:r>
              <a:rPr lang="en-US" sz="1300" b="1" i="1" dirty="0">
                <a:solidFill>
                  <a:schemeClr val="accent1"/>
                </a:solidFill>
              </a:rPr>
              <a:t>Say: </a:t>
            </a:r>
            <a:pPr indent="0" marL="0">
              <a:buNone/>
            </a:pPr>
            <a:r>
              <a:rPr lang="en-US" sz="1300" i="1" dirty="0">
                <a:solidFill>
                  <a:schemeClr val="tx1"/>
                </a:solidFill>
              </a:rPr>
              <a:t>"Workflows become weights on a release cadence. Memory becomes weights on a per-user cadence only when it is cheap to serve and safe to forget. Neither is true at scale yet, so the system is the product in 2026."</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777240"/>
          </a:xfrm>
          <a:prstGeom prst="rect">
            <a:avLst/>
          </a:prstGeom>
          <a:noFill/>
          <a:ln/>
        </p:spPr>
        <p:txBody>
          <a:bodyPr wrap="square" lIns="0" tIns="0" rIns="0" bIns="0" rtlCol="0"/>
          <a:lstStyle/>
          <a:p>
            <a:pPr algn="l" indent="0" marL="0">
              <a:buNone/>
            </a:pPr>
            <a:r>
              <a:rPr lang="en-US" sz="2600" b="1" dirty="0">
                <a:solidFill>
                  <a:schemeClr val="tx1"/>
                </a:solidFill>
              </a:rPr>
              <a:t>Memory as weights: what the research shows</a:t>
            </a:r>
            <a:endParaRPr lang="en-US" sz="2600" dirty="0"/>
          </a:p>
        </p:txBody>
      </p:sp>
      <p:sp>
        <p:nvSpPr>
          <p:cNvPr id="3" name="TTT-E2E (Dec 2025) card"/>
          <p:cNvSpPr/>
          <p:nvPr/>
        </p:nvSpPr>
        <p:spPr>
          <a:xfrm>
            <a:off x="640080" y="1371600"/>
            <a:ext cx="3474720" cy="3977640"/>
          </a:xfrm>
          <a:prstGeom prst="roundRect">
            <a:avLst>
              <a:gd name="adj" fmla="val 3158"/>
            </a:avLst>
          </a:prstGeom>
          <a:solidFill>
            <a:srgbClr val="F1EEE8"/>
          </a:solidFill>
          <a:ln w="12700">
            <a:solidFill>
              <a:srgbClr val="F1EEE8"/>
            </a:solidFill>
            <a:prstDash val="solid"/>
          </a:ln>
        </p:spPr>
      </p:sp>
      <p:sp>
        <p:nvSpPr>
          <p:cNvPr id="4" name="TTT-E2E (Dec 2025) head"/>
          <p:cNvSpPr txBox="1"/>
          <p:nvPr/>
        </p:nvSpPr>
        <p:spPr>
          <a:xfrm>
            <a:off x="868680" y="1536192"/>
            <a:ext cx="3017520" cy="411480"/>
          </a:xfrm>
          <a:prstGeom prst="rect">
            <a:avLst/>
          </a:prstGeom>
          <a:noFill/>
          <a:ln/>
        </p:spPr>
        <p:txBody>
          <a:bodyPr wrap="square" lIns="0" tIns="0" rIns="0" bIns="0" rtlCol="0" anchor="ctr"/>
          <a:lstStyle/>
          <a:p>
            <a:pPr indent="0" marL="0">
              <a:buNone/>
            </a:pPr>
            <a:r>
              <a:rPr lang="en-US" sz="1600" b="1" dirty="0">
                <a:solidFill>
                  <a:schemeClr val="accent1"/>
                </a:solidFill>
              </a:rPr>
              <a:t>TTT-E2E (Dec 2025)</a:t>
            </a:r>
            <a:endParaRPr lang="en-US" sz="1600" dirty="0"/>
          </a:p>
        </p:txBody>
      </p:sp>
      <p:sp>
        <p:nvSpPr>
          <p:cNvPr id="5" name="TTT-E2E (Dec 2025) body"/>
          <p:cNvSpPr txBox="1"/>
          <p:nvPr/>
        </p:nvSpPr>
        <p:spPr>
          <a:xfrm>
            <a:off x="868680" y="1993392"/>
            <a:ext cx="3017520" cy="32004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Model trains on its own context at inference; updates only MLP layers in the last quarter of the net</a:t>
            </a:r>
            <a:endParaRPr lang="en-US" sz="1200" dirty="0"/>
          </a:p>
          <a:p>
            <a:pPr marL="342900" indent="-342900">
              <a:spcAft>
                <a:spcPts val="400"/>
              </a:spcAft>
              <a:buSzPct val="100000"/>
              <a:buChar char="•"/>
            </a:pPr>
            <a:r>
              <a:rPr lang="en-US" sz="1200" dirty="0">
                <a:solidFill>
                  <a:schemeClr val="tx1"/>
                </a:solidFill>
              </a:rPr>
              <a:t>Scales with context like full attention; Mamba 2 and Gated DeltaNet do not</a:t>
            </a:r>
            <a:endParaRPr lang="en-US" sz="1200" dirty="0"/>
          </a:p>
          <a:p>
            <a:pPr marL="342900" indent="-342900">
              <a:spcAft>
                <a:spcPts val="400"/>
              </a:spcAft>
              <a:buSzPct val="100000"/>
              <a:buChar char="•"/>
            </a:pPr>
            <a:r>
              <a:rPr lang="en-US" sz="1200" dirty="0">
                <a:solidFill>
                  <a:schemeClr val="tx1"/>
                </a:solidFill>
              </a:rPr>
              <a:t>Constant latency; 2.7x faster than full attention at 128K</a:t>
            </a:r>
            <a:endParaRPr lang="en-US" sz="1200" dirty="0"/>
          </a:p>
          <a:p>
            <a:pPr marL="342900" indent="-342900">
              <a:spcAft>
                <a:spcPts val="400"/>
              </a:spcAft>
              <a:buSzPct val="100000"/>
              <a:buChar char="•"/>
            </a:pPr>
            <a:r>
              <a:rPr lang="en-US" sz="1200" dirty="0">
                <a:solidFill>
                  <a:schemeClr val="tx1"/>
                </a:solidFill>
              </a:rPr>
              <a:t>Caveat: 3B models, 164B tokens. Not yet a frontier-scale result</a:t>
            </a:r>
            <a:endParaRPr lang="en-US" sz="1200" dirty="0"/>
          </a:p>
        </p:txBody>
      </p:sp>
      <p:sp>
        <p:nvSpPr>
          <p:cNvPr id="6" name="Nested Learning / Hope card"/>
          <p:cNvSpPr/>
          <p:nvPr/>
        </p:nvSpPr>
        <p:spPr>
          <a:xfrm>
            <a:off x="4343400" y="1371600"/>
            <a:ext cx="3474720" cy="3977640"/>
          </a:xfrm>
          <a:prstGeom prst="roundRect">
            <a:avLst>
              <a:gd name="adj" fmla="val 3158"/>
            </a:avLst>
          </a:prstGeom>
          <a:solidFill>
            <a:srgbClr val="F1EEE8"/>
          </a:solidFill>
          <a:ln w="12700">
            <a:solidFill>
              <a:srgbClr val="F1EEE8"/>
            </a:solidFill>
            <a:prstDash val="solid"/>
          </a:ln>
        </p:spPr>
      </p:sp>
      <p:sp>
        <p:nvSpPr>
          <p:cNvPr id="7" name="Nested Learning / Hope head"/>
          <p:cNvSpPr txBox="1"/>
          <p:nvPr/>
        </p:nvSpPr>
        <p:spPr>
          <a:xfrm>
            <a:off x="4572000" y="1536192"/>
            <a:ext cx="3017520" cy="411480"/>
          </a:xfrm>
          <a:prstGeom prst="rect">
            <a:avLst/>
          </a:prstGeom>
          <a:noFill/>
          <a:ln/>
        </p:spPr>
        <p:txBody>
          <a:bodyPr wrap="square" lIns="0" tIns="0" rIns="0" bIns="0" rtlCol="0" anchor="ctr"/>
          <a:lstStyle/>
          <a:p>
            <a:pPr indent="0" marL="0">
              <a:buNone/>
            </a:pPr>
            <a:r>
              <a:rPr lang="en-US" sz="1600" b="1" dirty="0">
                <a:solidFill>
                  <a:schemeClr val="accent2"/>
                </a:solidFill>
              </a:rPr>
              <a:t>Nested Learning / Hope</a:t>
            </a:r>
            <a:endParaRPr lang="en-US" sz="1600" dirty="0"/>
          </a:p>
        </p:txBody>
      </p:sp>
      <p:sp>
        <p:nvSpPr>
          <p:cNvPr id="8" name="Nested Learning / Hope body"/>
          <p:cNvSpPr txBox="1"/>
          <p:nvPr/>
        </p:nvSpPr>
        <p:spPr>
          <a:xfrm>
            <a:off x="4572000" y="1993392"/>
            <a:ext cx="3017520" cy="32004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Architecture and optimizer as nested optimization levels, each with its own update frequency</a:t>
            </a:r>
            <a:endParaRPr lang="en-US" sz="1200" dirty="0"/>
          </a:p>
          <a:p>
            <a:pPr marL="342900" indent="-342900">
              <a:spcAft>
                <a:spcPts val="400"/>
              </a:spcAft>
              <a:buSzPct val="100000"/>
              <a:buChar char="•"/>
            </a:pPr>
            <a:r>
              <a:rPr lang="en-US" sz="1200" dirty="0">
                <a:solidFill>
                  <a:schemeClr val="tx1"/>
                </a:solidFill>
              </a:rPr>
              <a:t>Continuum Memory System: banks that update fast (facts) to slow (abstractions)</a:t>
            </a:r>
            <a:endParaRPr lang="en-US" sz="1200" dirty="0"/>
          </a:p>
          <a:p>
            <a:pPr marL="342900" indent="-342900">
              <a:spcAft>
                <a:spcPts val="400"/>
              </a:spcAft>
              <a:buSzPct val="100000"/>
              <a:buChar char="•"/>
            </a:pPr>
            <a:r>
              <a:rPr lang="en-US" sz="1200" dirty="0">
                <a:solidFill>
                  <a:schemeClr val="tx1"/>
                </a:solidFill>
              </a:rPr>
              <a:t>Forgetting is mitigated because nothing updates everywhere at once</a:t>
            </a:r>
            <a:endParaRPr lang="en-US" sz="1200" dirty="0"/>
          </a:p>
          <a:p>
            <a:pPr marL="342900" indent="-342900">
              <a:spcAft>
                <a:spcPts val="400"/>
              </a:spcAft>
              <a:buSzPct val="100000"/>
              <a:buChar char="•"/>
            </a:pPr>
            <a:r>
              <a:rPr lang="en-US" sz="1200" dirty="0">
                <a:solidFill>
                  <a:schemeClr val="tx1"/>
                </a:solidFill>
              </a:rPr>
              <a:t>Beats Titans and transformers on LM perplexity and needle-in-haystack at research scale</a:t>
            </a:r>
            <a:endParaRPr lang="en-US" sz="1200" dirty="0"/>
          </a:p>
        </p:txBody>
      </p:sp>
      <p:sp>
        <p:nvSpPr>
          <p:cNvPr id="9" name="Per-user parametric card"/>
          <p:cNvSpPr/>
          <p:nvPr/>
        </p:nvSpPr>
        <p:spPr>
          <a:xfrm>
            <a:off x="8046720" y="1371600"/>
            <a:ext cx="3474720" cy="3977640"/>
          </a:xfrm>
          <a:prstGeom prst="roundRect">
            <a:avLst>
              <a:gd name="adj" fmla="val 3158"/>
            </a:avLst>
          </a:prstGeom>
          <a:solidFill>
            <a:srgbClr val="F1EEE8"/>
          </a:solidFill>
          <a:ln w="12700">
            <a:solidFill>
              <a:srgbClr val="F1EEE8"/>
            </a:solidFill>
            <a:prstDash val="solid"/>
          </a:ln>
        </p:spPr>
      </p:sp>
      <p:sp>
        <p:nvSpPr>
          <p:cNvPr id="10" name="Per-user parametric head"/>
          <p:cNvSpPr txBox="1"/>
          <p:nvPr/>
        </p:nvSpPr>
        <p:spPr>
          <a:xfrm>
            <a:off x="8275320" y="1536192"/>
            <a:ext cx="3017520" cy="411480"/>
          </a:xfrm>
          <a:prstGeom prst="rect">
            <a:avLst/>
          </a:prstGeom>
          <a:noFill/>
          <a:ln/>
        </p:spPr>
        <p:txBody>
          <a:bodyPr wrap="square" lIns="0" tIns="0" rIns="0" bIns="0" rtlCol="0" anchor="ctr"/>
          <a:lstStyle/>
          <a:p>
            <a:pPr indent="0" marL="0">
              <a:buNone/>
            </a:pPr>
            <a:r>
              <a:rPr lang="en-US" sz="1600" b="1" dirty="0">
                <a:solidFill>
                  <a:schemeClr val="accent3"/>
                </a:solidFill>
              </a:rPr>
              <a:t>Per-user parametric</a:t>
            </a:r>
            <a:endParaRPr lang="en-US" sz="1600" dirty="0"/>
          </a:p>
        </p:txBody>
      </p:sp>
      <p:sp>
        <p:nvSpPr>
          <p:cNvPr id="11" name="Per-user parametric body"/>
          <p:cNvSpPr txBox="1"/>
          <p:nvPr/>
        </p:nvSpPr>
        <p:spPr>
          <a:xfrm>
            <a:off x="8275320" y="1993392"/>
            <a:ext cx="3017520" cy="32004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User-as-Engram: per-user facts as local parametric edits on a frozen base</a:t>
            </a:r>
            <a:endParaRPr lang="en-US" sz="1200" dirty="0"/>
          </a:p>
          <a:p>
            <a:pPr marL="342900" indent="-342900">
              <a:spcAft>
                <a:spcPts val="400"/>
              </a:spcAft>
              <a:buSzPct val="100000"/>
              <a:buChar char="•"/>
            </a:pPr>
            <a:r>
              <a:rPr lang="en-US" sz="1200" dirty="0">
                <a:solidFill>
                  <a:schemeClr val="tx1"/>
                </a:solidFill>
              </a:rPr>
              <a:t>Hypernetworks emit a LoRA from user history in one shot, no per-user training loop</a:t>
            </a:r>
            <a:endParaRPr lang="en-US" sz="1200" dirty="0"/>
          </a:p>
          <a:p>
            <a:pPr marL="342900" indent="-342900">
              <a:spcAft>
                <a:spcPts val="400"/>
              </a:spcAft>
              <a:buSzPct val="100000"/>
              <a:buChar char="•"/>
            </a:pPr>
            <a:r>
              <a:rPr lang="en-US" sz="1200" dirty="0">
                <a:solidFill>
                  <a:schemeClr val="tx1"/>
                </a:solidFill>
              </a:rPr>
              <a:t>Serving reality: S-LoRA / PLoRA pool thousands of adapters; 1000 adapters on 13B at 4K ctx ≈ 1.3 TB</a:t>
            </a:r>
            <a:endParaRPr lang="en-US" sz="1200" dirty="0"/>
          </a:p>
          <a:p>
            <a:pPr marL="342900" indent="-342900">
              <a:spcAft>
                <a:spcPts val="400"/>
              </a:spcAft>
              <a:buSzPct val="100000"/>
              <a:buChar char="•"/>
            </a:pPr>
            <a:r>
              <a:rPr lang="en-US" sz="1200" dirty="0">
                <a:solidFill>
                  <a:schemeClr val="tx1"/>
                </a:solidFill>
              </a:rPr>
              <a:t>Open problems: deletion guarantees, audit, cross-user leakage</a:t>
            </a:r>
            <a:endParaRPr lang="en-US" sz="1200" dirty="0"/>
          </a:p>
        </p:txBody>
      </p:sp>
      <p:sp>
        <p:nvSpPr>
          <p:cNvPr id="12" name="talk strip"/>
          <p:cNvSpPr/>
          <p:nvPr/>
        </p:nvSpPr>
        <p:spPr>
          <a:xfrm>
            <a:off x="640080" y="5532120"/>
            <a:ext cx="10881360" cy="731520"/>
          </a:xfrm>
          <a:prstGeom prst="roundRect">
            <a:avLst>
              <a:gd name="adj" fmla="val 12500"/>
            </a:avLst>
          </a:prstGeom>
          <a:solidFill>
            <a:srgbClr val="FDE4D3"/>
          </a:solidFill>
          <a:ln w="12700">
            <a:solidFill>
              <a:srgbClr val="FDE4D3"/>
            </a:solidFill>
            <a:prstDash val="solid"/>
          </a:ln>
        </p:spPr>
      </p:sp>
      <p:sp>
        <p:nvSpPr>
          <p:cNvPr id="13" name="talk text"/>
          <p:cNvSpPr txBox="1"/>
          <p:nvPr/>
        </p:nvSpPr>
        <p:spPr>
          <a:xfrm>
            <a:off x="822960" y="5577840"/>
            <a:ext cx="10515600" cy="640080"/>
          </a:xfrm>
          <a:prstGeom prst="rect">
            <a:avLst/>
          </a:prstGeom>
          <a:noFill/>
          <a:ln/>
        </p:spPr>
        <p:txBody>
          <a:bodyPr wrap="square" lIns="0" tIns="0" rIns="0" bIns="0" rtlCol="0" anchor="ctr"/>
          <a:lstStyle/>
          <a:p>
            <a:pPr indent="0" marL="0">
              <a:buNone/>
            </a:pPr>
            <a:r>
              <a:rPr lang="en-US" sz="1300" b="1" i="1" dirty="0">
                <a:solidFill>
                  <a:schemeClr val="accent1"/>
                </a:solidFill>
              </a:rPr>
              <a:t>Say: </a:t>
            </a:r>
            <a:pPr indent="0" marL="0">
              <a:buNone/>
            </a:pPr>
            <a:r>
              <a:rPr lang="en-US" sz="1300" i="1" dirty="0">
                <a:solidFill>
                  <a:schemeClr val="tx1"/>
                </a:solidFill>
              </a:rPr>
              <a:t>"Memory as weights is the most exciting direction in the field and the least ready for production. The honest line: it works at 3B, the serving math is brutal, and nobody can yet prove a fact was deleted."</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777240"/>
          </a:xfrm>
          <a:prstGeom prst="rect">
            <a:avLst/>
          </a:prstGeom>
          <a:noFill/>
          <a:ln/>
        </p:spPr>
        <p:txBody>
          <a:bodyPr wrap="square" lIns="0" tIns="0" rIns="0" bIns="0" rtlCol="0"/>
          <a:lstStyle/>
          <a:p>
            <a:pPr algn="l" indent="0" marL="0">
              <a:buNone/>
            </a:pPr>
            <a:r>
              <a:rPr lang="en-US" sz="2600" b="1" dirty="0">
                <a:solidFill>
                  <a:schemeClr val="tx1"/>
                </a:solidFill>
              </a:rPr>
              <a:t>Does open routing close the gap for open models?</a:t>
            </a:r>
            <a:endParaRPr lang="en-US" sz="2600" dirty="0"/>
          </a:p>
        </p:txBody>
      </p:sp>
      <p:sp>
        <p:nvSpPr>
          <p:cNvPr id="3" name="open box"/>
          <p:cNvSpPr/>
          <p:nvPr/>
        </p:nvSpPr>
        <p:spPr>
          <a:xfrm>
            <a:off x="640080" y="1371600"/>
            <a:ext cx="5303520" cy="3977640"/>
          </a:xfrm>
          <a:prstGeom prst="roundRect">
            <a:avLst>
              <a:gd name="adj" fmla="val 2759"/>
            </a:avLst>
          </a:prstGeom>
          <a:solidFill>
            <a:srgbClr val="14181F"/>
          </a:solidFill>
          <a:ln w="12700">
            <a:solidFill>
              <a:srgbClr val="14181F"/>
            </a:solidFill>
            <a:prstDash val="solid"/>
          </a:ln>
        </p:spPr>
      </p:sp>
      <p:sp>
        <p:nvSpPr>
          <p:cNvPr id="4" name="open head"/>
          <p:cNvSpPr txBox="1"/>
          <p:nvPr/>
        </p:nvSpPr>
        <p:spPr>
          <a:xfrm>
            <a:off x="868680" y="1508760"/>
            <a:ext cx="4846320" cy="457200"/>
          </a:xfrm>
          <a:prstGeom prst="rect">
            <a:avLst/>
          </a:prstGeom>
          <a:noFill/>
          <a:ln/>
        </p:spPr>
        <p:txBody>
          <a:bodyPr wrap="square" lIns="0" tIns="0" rIns="0" bIns="0" rtlCol="0" anchor="ctr"/>
          <a:lstStyle/>
          <a:p>
            <a:pPr indent="0" marL="0">
              <a:buNone/>
            </a:pPr>
            <a:r>
              <a:rPr lang="en-US" sz="1800" b="1" dirty="0">
                <a:solidFill>
                  <a:schemeClr val="accent4"/>
                </a:solidFill>
              </a:rPr>
              <a:t>Yes, for memory outside the model</a:t>
            </a:r>
            <a:endParaRPr lang="en-US" sz="1800" dirty="0"/>
          </a:p>
        </p:txBody>
      </p:sp>
      <p:sp>
        <p:nvSpPr>
          <p:cNvPr id="5" name="open body"/>
          <p:cNvSpPr txBox="1"/>
          <p:nvPr/>
        </p:nvSpPr>
        <p:spPr>
          <a:xfrm>
            <a:off x="868680" y="2011680"/>
            <a:ext cx="4846320" cy="32004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bg1"/>
                </a:solidFill>
              </a:rPr>
              <a:t>A memory layer is model-agnostic by construction: the same notes feed Gemini, Claude, Kimi K3, DeepSeek V4</a:t>
            </a:r>
            <a:endParaRPr lang="en-US" sz="1250" dirty="0"/>
          </a:p>
          <a:p>
            <a:pPr marL="342900" indent="-342900">
              <a:spcAft>
                <a:spcPts val="600"/>
              </a:spcAft>
              <a:buSzPct val="100000"/>
              <a:buChar char="•"/>
            </a:pPr>
            <a:r>
              <a:rPr lang="en-US" sz="1250" dirty="0">
                <a:solidFill>
                  <a:schemeClr val="bg1"/>
                </a:solidFill>
              </a:rPr>
              <a:t>Open weights now ship 1M context (Kimi K3 2.8T MoE, DeepSeek V4 Pro 1.6T), MLA and sparse attention (DSA in DeepSeek V3.2, GLM-5) cut KV cost</a:t>
            </a:r>
            <a:endParaRPr lang="en-US" sz="1250" dirty="0"/>
          </a:p>
          <a:p>
            <a:pPr marL="342900" indent="-342900">
              <a:spcAft>
                <a:spcPts val="600"/>
              </a:spcAft>
              <a:buSzPct val="100000"/>
              <a:buChar char="•"/>
            </a:pPr>
            <a:r>
              <a:rPr lang="en-US" sz="1250" dirty="0">
                <a:solidFill>
                  <a:schemeClr val="bg1"/>
                </a:solidFill>
              </a:rPr>
              <a:t>If your learning lives in token space, switching models is a routing change, not a migration</a:t>
            </a:r>
            <a:endParaRPr lang="en-US" sz="1250" dirty="0"/>
          </a:p>
          <a:p>
            <a:pPr marL="342900" indent="-342900">
              <a:spcAft>
                <a:spcPts val="600"/>
              </a:spcAft>
              <a:buSzPct val="100000"/>
              <a:buChar char="•"/>
            </a:pPr>
            <a:r>
              <a:rPr lang="en-US" sz="1250" dirty="0">
                <a:solidFill>
                  <a:schemeClr val="bg1"/>
                </a:solidFill>
              </a:rPr>
              <a:t>Letta, Mem0, Zep all pitch exactly this: portable memory, swap the brain</a:t>
            </a:r>
            <a:endParaRPr lang="en-US" sz="1250" dirty="0"/>
          </a:p>
        </p:txBody>
      </p:sp>
      <p:sp>
        <p:nvSpPr>
          <p:cNvPr id="6" name="closed box"/>
          <p:cNvSpPr/>
          <p:nvPr/>
        </p:nvSpPr>
        <p:spPr>
          <a:xfrm>
            <a:off x="6217920" y="1371600"/>
            <a:ext cx="5303520" cy="3977640"/>
          </a:xfrm>
          <a:prstGeom prst="roundRect">
            <a:avLst>
              <a:gd name="adj" fmla="val 2759"/>
            </a:avLst>
          </a:prstGeom>
          <a:solidFill>
            <a:srgbClr val="F1EEE8"/>
          </a:solidFill>
          <a:ln w="12700">
            <a:solidFill>
              <a:srgbClr val="F1EEE8"/>
            </a:solidFill>
            <a:prstDash val="solid"/>
          </a:ln>
        </p:spPr>
      </p:sp>
      <p:sp>
        <p:nvSpPr>
          <p:cNvPr id="7" name="closed head"/>
          <p:cNvSpPr txBox="1"/>
          <p:nvPr/>
        </p:nvSpPr>
        <p:spPr>
          <a:xfrm>
            <a:off x="6446520" y="1508760"/>
            <a:ext cx="4846320" cy="457200"/>
          </a:xfrm>
          <a:prstGeom prst="rect">
            <a:avLst/>
          </a:prstGeom>
          <a:noFill/>
          <a:ln/>
        </p:spPr>
        <p:txBody>
          <a:bodyPr wrap="square" lIns="0" tIns="0" rIns="0" bIns="0" rtlCol="0" anchor="ctr"/>
          <a:lstStyle/>
          <a:p>
            <a:pPr indent="0" marL="0">
              <a:buNone/>
            </a:pPr>
            <a:r>
              <a:rPr lang="en-US" sz="1800" b="1" dirty="0">
                <a:solidFill>
                  <a:schemeClr val="accent1"/>
                </a:solidFill>
              </a:rPr>
              <a:t>No, for memory inside the model</a:t>
            </a:r>
            <a:endParaRPr lang="en-US" sz="1800" dirty="0"/>
          </a:p>
        </p:txBody>
      </p:sp>
      <p:sp>
        <p:nvSpPr>
          <p:cNvPr id="8" name="closed body"/>
          <p:cNvSpPr txBox="1"/>
          <p:nvPr/>
        </p:nvSpPr>
        <p:spPr>
          <a:xfrm>
            <a:off x="6446520" y="2011680"/>
            <a:ext cx="4846320" cy="32004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Weight-space memory is not portable: a LoRA or TTT state is tied to one base model</a:t>
            </a:r>
            <a:endParaRPr lang="en-US" sz="1250" dirty="0"/>
          </a:p>
          <a:p>
            <a:pPr marL="342900" indent="-342900">
              <a:spcAft>
                <a:spcPts val="600"/>
              </a:spcAft>
              <a:buSzPct val="100000"/>
              <a:buChar char="•"/>
            </a:pPr>
            <a:r>
              <a:rPr lang="en-US" sz="1250" dirty="0">
                <a:solidFill>
                  <a:schemeClr val="tx1"/>
                </a:solidFill>
              </a:rPr>
              <a:t>Closed labs train workflows into the next release (Brenda's 'workflows becoming model features'); open models inherit them 6 to 12 months later</a:t>
            </a:r>
            <a:endParaRPr lang="en-US" sz="1250" dirty="0"/>
          </a:p>
          <a:p>
            <a:pPr marL="342900" indent="-342900">
              <a:spcAft>
                <a:spcPts val="600"/>
              </a:spcAft>
              <a:buSzPct val="100000"/>
              <a:buChar char="•"/>
            </a:pPr>
            <a:r>
              <a:rPr lang="en-US" sz="1250" dirty="0">
                <a:solidFill>
                  <a:schemeClr val="tx1"/>
                </a:solidFill>
              </a:rPr>
              <a:t>Harness-model fit is real: the same memory layer scores differently per model, so eval per pair, not per component</a:t>
            </a:r>
            <a:endParaRPr lang="en-US" sz="1250" dirty="0"/>
          </a:p>
          <a:p>
            <a:pPr marL="342900" indent="-342900">
              <a:spcAft>
                <a:spcPts val="600"/>
              </a:spcAft>
              <a:buSzPct val="100000"/>
              <a:buChar char="•"/>
            </a:pPr>
            <a:r>
              <a:rPr lang="en-US" sz="1250" dirty="0">
                <a:solidFill>
                  <a:schemeClr val="tx1"/>
                </a:solidFill>
              </a:rPr>
              <a:t>The moat moves from 'who has the model' to 'who has the longest learning loop with real users'</a:t>
            </a:r>
            <a:endParaRPr lang="en-US" sz="1250" dirty="0"/>
          </a:p>
        </p:txBody>
      </p:sp>
      <p:sp>
        <p:nvSpPr>
          <p:cNvPr id="9" name="talk strip"/>
          <p:cNvSpPr/>
          <p:nvPr/>
        </p:nvSpPr>
        <p:spPr>
          <a:xfrm>
            <a:off x="640080" y="5532120"/>
            <a:ext cx="10881360" cy="731520"/>
          </a:xfrm>
          <a:prstGeom prst="roundRect">
            <a:avLst>
              <a:gd name="adj" fmla="val 12500"/>
            </a:avLst>
          </a:prstGeom>
          <a:solidFill>
            <a:srgbClr val="FDE4D3"/>
          </a:solidFill>
          <a:ln w="12700">
            <a:solidFill>
              <a:srgbClr val="FDE4D3"/>
            </a:solidFill>
            <a:prstDash val="solid"/>
          </a:ln>
        </p:spPr>
      </p:sp>
      <p:sp>
        <p:nvSpPr>
          <p:cNvPr id="10" name="talk text"/>
          <p:cNvSpPr txBox="1"/>
          <p:nvPr/>
        </p:nvSpPr>
        <p:spPr>
          <a:xfrm>
            <a:off x="822960" y="5577840"/>
            <a:ext cx="10515600" cy="640080"/>
          </a:xfrm>
          <a:prstGeom prst="rect">
            <a:avLst/>
          </a:prstGeom>
          <a:noFill/>
          <a:ln/>
        </p:spPr>
        <p:txBody>
          <a:bodyPr wrap="square" lIns="0" tIns="0" rIns="0" bIns="0" rtlCol="0" anchor="ctr"/>
          <a:lstStyle/>
          <a:p>
            <a:pPr indent="0" marL="0">
              <a:buNone/>
            </a:pPr>
            <a:r>
              <a:rPr lang="en-US" sz="1300" b="1" i="1" dirty="0">
                <a:solidFill>
                  <a:schemeClr val="accent1"/>
                </a:solidFill>
              </a:rPr>
              <a:t>Say: </a:t>
            </a:r>
            <a:pPr indent="0" marL="0">
              <a:buNone/>
            </a:pPr>
            <a:r>
              <a:rPr lang="en-US" sz="1300" i="1" dirty="0">
                <a:solidFill>
                  <a:schemeClr val="tx1"/>
                </a:solidFill>
              </a:rPr>
              <a:t>"Open routing commoditizes memory outside the model. It does nothing for memory inside the model. So the question for a founder is: which kind of memory is your product?"</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lstStyle/>
          <a:p>
            <a:pPr algn="l" indent="0" marL="0">
              <a:buNone/>
            </a:pPr>
            <a:r>
              <a:rPr lang="en-US" sz="3800" b="1" dirty="0">
                <a:solidFill>
                  <a:schemeClr val="bg1"/>
                </a:solidFill>
              </a:rPr>
              <a:t>Round 3 · Who runs your AI, and who pays for it?</a:t>
            </a:r>
            <a:endParaRPr lang="en-US" sz="3800" dirty="0"/>
          </a:p>
        </p:txBody>
      </p:sp>
      <p:sp>
        <p:nvSpPr>
          <p:cNvPr id="3" name="Text 0"/>
          <p:cNvSpPr/>
          <p:nvPr>
            <p:ph idx="101" type="body" hasCustomPrompt="1"/>
          </p:nvPr>
        </p:nvSpPr>
        <p:spPr>
          <a:xfrm>
            <a:off x="731520" y="3794760"/>
            <a:ext cx="10058400" cy="1280160"/>
          </a:xfrm>
          <a:prstGeom prst="rect">
            <a:avLst/>
          </a:prstGeom>
          <a:noFill/>
          <a:ln/>
        </p:spPr>
        <p:txBody>
          <a:bodyPr wrap="square" lIns="0" tIns="0" rIns="0" bIns="0" rtlCol="0"/>
          <a:lstStyle/>
          <a:p>
            <a:pPr algn="l" indent="0" marL="0">
              <a:buNone/>
            </a:pPr>
            <a:r>
              <a:rPr lang="en-US" sz="2000" dirty="0">
                <a:solidFill>
                  <a:schemeClr val="accent6"/>
                </a:solidFill>
              </a:rPr>
              <a:t>My angle: personalization design, memory for help vs. memory for ads. Pick: B, bring your own context, with the honest admission that A is what most people will get.</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777240"/>
          </a:xfrm>
          <a:prstGeom prst="rect">
            <a:avLst/>
          </a:prstGeom>
          <a:noFill/>
          <a:ln/>
        </p:spPr>
        <p:txBody>
          <a:bodyPr wrap="square" lIns="0" tIns="0" rIns="0" bIns="0" rtlCol="0"/>
          <a:lstStyle/>
          <a:p>
            <a:pPr algn="l" indent="0" marL="0">
              <a:buNone/>
            </a:pPr>
            <a:r>
              <a:rPr lang="en-US" sz="2600" b="1" dirty="0">
                <a:solidFill>
                  <a:schemeClr val="tx1"/>
                </a:solidFill>
              </a:rPr>
              <a:t>Memory for help vs. memory for ads: opposite incentives</a:t>
            </a:r>
            <a:endParaRPr lang="en-US" sz="2600" dirty="0"/>
          </a:p>
        </p:txBody>
      </p:sp>
      <p:sp>
        <p:nvSpPr>
          <p:cNvPr id="3" name="stat Feb 2026"/>
          <p:cNvSpPr txBox="1"/>
          <p:nvPr/>
        </p:nvSpPr>
        <p:spPr>
          <a:xfrm>
            <a:off x="640080" y="1371600"/>
            <a:ext cx="3383280" cy="822960"/>
          </a:xfrm>
          <a:prstGeom prst="rect">
            <a:avLst/>
          </a:prstGeom>
          <a:noFill/>
          <a:ln/>
        </p:spPr>
        <p:txBody>
          <a:bodyPr wrap="square" lIns="0" tIns="0" rIns="0" bIns="0" rtlCol="0" anchor="ctr"/>
          <a:lstStyle/>
          <a:p>
            <a:pPr indent="0" marL="0">
              <a:buNone/>
            </a:pPr>
            <a:r>
              <a:rPr lang="en-US" sz="4000" b="1" dirty="0">
                <a:solidFill>
                  <a:schemeClr val="accent1"/>
                </a:solidFill>
              </a:rPr>
              <a:t>Feb 2026</a:t>
            </a:r>
            <a:endParaRPr lang="en-US" sz="4000" dirty="0"/>
          </a:p>
        </p:txBody>
      </p:sp>
      <p:sp>
        <p:nvSpPr>
          <p:cNvPr id="4" name="stat label Feb 2026"/>
          <p:cNvSpPr txBox="1"/>
          <p:nvPr/>
        </p:nvSpPr>
        <p:spPr>
          <a:xfrm>
            <a:off x="640080" y="2194560"/>
            <a:ext cx="3383280" cy="640080"/>
          </a:xfrm>
          <a:prstGeom prst="rect">
            <a:avLst/>
          </a:prstGeom>
          <a:noFill/>
          <a:ln/>
        </p:spPr>
        <p:txBody>
          <a:bodyPr wrap="square" lIns="0" tIns="0" rIns="0" bIns="0" rtlCol="0" anchor="t"/>
          <a:lstStyle/>
          <a:p>
            <a:pPr indent="0" marL="0">
              <a:buNone/>
            </a:pPr>
            <a:r>
              <a:rPr lang="en-US" sz="1200" dirty="0">
                <a:solidFill>
                  <a:schemeClr val="tx2"/>
                </a:solidFill>
              </a:rPr>
              <a:t>Feb 9: ChatGPT begins ads for US Free and Go users; with Personalized Ads on, targeting can use the current thread, past chats, and memory.</a:t>
            </a:r>
            <a:endParaRPr lang="en-US" sz="1200" dirty="0"/>
          </a:p>
        </p:txBody>
      </p:sp>
      <p:sp>
        <p:nvSpPr>
          <p:cNvPr id="5" name="stat Mar 2026"/>
          <p:cNvSpPr txBox="1"/>
          <p:nvPr/>
        </p:nvSpPr>
        <p:spPr>
          <a:xfrm>
            <a:off x="4297680" y="1371600"/>
            <a:ext cx="3383280" cy="822960"/>
          </a:xfrm>
          <a:prstGeom prst="rect">
            <a:avLst/>
          </a:prstGeom>
          <a:noFill/>
          <a:ln/>
        </p:spPr>
        <p:txBody>
          <a:bodyPr wrap="square" lIns="0" tIns="0" rIns="0" bIns="0" rtlCol="0" anchor="ctr"/>
          <a:lstStyle/>
          <a:p>
            <a:pPr indent="0" marL="0">
              <a:buNone/>
            </a:pPr>
            <a:r>
              <a:rPr lang="en-US" sz="4000" b="1" dirty="0">
                <a:solidFill>
                  <a:schemeClr val="accent2"/>
                </a:solidFill>
              </a:rPr>
              <a:t>Mar 2026</a:t>
            </a:r>
            <a:endParaRPr lang="en-US" sz="4000" dirty="0"/>
          </a:p>
        </p:txBody>
      </p:sp>
      <p:sp>
        <p:nvSpPr>
          <p:cNvPr id="6" name="stat label Mar 2026"/>
          <p:cNvSpPr txBox="1"/>
          <p:nvPr/>
        </p:nvSpPr>
        <p:spPr>
          <a:xfrm>
            <a:off x="4297680" y="2194560"/>
            <a:ext cx="3383280" cy="640080"/>
          </a:xfrm>
          <a:prstGeom prst="rect">
            <a:avLst/>
          </a:prstGeom>
          <a:noFill/>
          <a:ln/>
        </p:spPr>
        <p:txBody>
          <a:bodyPr wrap="square" lIns="0" tIns="0" rIns="0" bIns="0" rtlCol="0" anchor="t"/>
          <a:lstStyle/>
          <a:p>
            <a:pPr indent="0" marL="0">
              <a:buNone/>
            </a:pPr>
            <a:r>
              <a:rPr lang="en-US" sz="1200" dirty="0">
                <a:solidFill>
                  <a:schemeClr val="tx2"/>
                </a:solidFill>
              </a:rPr>
              <a:t>Mar 2: Claude turns on automatic cross-chat memory for every plan including free, with view, edit, and delete controls.</a:t>
            </a:r>
            <a:endParaRPr lang="en-US" sz="1200" dirty="0"/>
          </a:p>
        </p:txBody>
      </p:sp>
      <p:sp>
        <p:nvSpPr>
          <p:cNvPr id="7" name="stat Jun 2026"/>
          <p:cNvSpPr txBox="1"/>
          <p:nvPr/>
        </p:nvSpPr>
        <p:spPr>
          <a:xfrm>
            <a:off x="7955280" y="1371600"/>
            <a:ext cx="3566160" cy="822960"/>
          </a:xfrm>
          <a:prstGeom prst="rect">
            <a:avLst/>
          </a:prstGeom>
          <a:noFill/>
          <a:ln/>
        </p:spPr>
        <p:txBody>
          <a:bodyPr wrap="square" lIns="0" tIns="0" rIns="0" bIns="0" rtlCol="0" anchor="ctr"/>
          <a:lstStyle/>
          <a:p>
            <a:pPr indent="0" marL="0">
              <a:buNone/>
            </a:pPr>
            <a:r>
              <a:rPr lang="en-US" sz="4000" b="1" dirty="0">
                <a:solidFill>
                  <a:schemeClr val="accent3"/>
                </a:solidFill>
              </a:rPr>
              <a:t>Jun 2026</a:t>
            </a:r>
            <a:endParaRPr lang="en-US" sz="4000" dirty="0"/>
          </a:p>
        </p:txBody>
      </p:sp>
      <p:sp>
        <p:nvSpPr>
          <p:cNvPr id="8" name="stat label Jun 2026"/>
          <p:cNvSpPr txBox="1"/>
          <p:nvPr/>
        </p:nvSpPr>
        <p:spPr>
          <a:xfrm>
            <a:off x="7955280" y="2194560"/>
            <a:ext cx="3566160" cy="640080"/>
          </a:xfrm>
          <a:prstGeom prst="rect">
            <a:avLst/>
          </a:prstGeom>
          <a:noFill/>
          <a:ln/>
        </p:spPr>
        <p:txBody>
          <a:bodyPr wrap="square" lIns="0" tIns="0" rIns="0" bIns="0" rtlCol="0" anchor="t"/>
          <a:lstStyle/>
          <a:p>
            <a:pPr indent="0" marL="0">
              <a:buNone/>
            </a:pPr>
            <a:r>
              <a:rPr lang="en-US" sz="1200" dirty="0">
                <a:solidFill>
                  <a:schemeClr val="tx2"/>
                </a:solidFill>
              </a:rPr>
              <a:t>Gemini Personal Intelligence connects Gmail, Photos, and Live; ChatGPT memory refresh targets stale and contradictory entries.</a:t>
            </a:r>
            <a:endParaRPr lang="en-US" sz="1200" dirty="0"/>
          </a:p>
        </p:txBody>
      </p:sp>
      <p:sp>
        <p:nvSpPr>
          <p:cNvPr id="9" name="Design principles I'd defend card"/>
          <p:cNvSpPr/>
          <p:nvPr/>
        </p:nvSpPr>
        <p:spPr>
          <a:xfrm>
            <a:off x="640080" y="3200400"/>
            <a:ext cx="5303520" cy="2148840"/>
          </a:xfrm>
          <a:prstGeom prst="roundRect">
            <a:avLst>
              <a:gd name="adj" fmla="val 5106"/>
            </a:avLst>
          </a:prstGeom>
          <a:solidFill>
            <a:srgbClr val="F1EEE8"/>
          </a:solidFill>
          <a:ln w="12700">
            <a:solidFill>
              <a:srgbClr val="F1EEE8"/>
            </a:solidFill>
            <a:prstDash val="solid"/>
          </a:ln>
        </p:spPr>
      </p:sp>
      <p:sp>
        <p:nvSpPr>
          <p:cNvPr id="10" name="Design principles I&amp;apos;d defend head"/>
          <p:cNvSpPr txBox="1"/>
          <p:nvPr/>
        </p:nvSpPr>
        <p:spPr>
          <a:xfrm>
            <a:off x="868680" y="3364992"/>
            <a:ext cx="4846320" cy="411480"/>
          </a:xfrm>
          <a:prstGeom prst="rect">
            <a:avLst/>
          </a:prstGeom>
          <a:noFill/>
          <a:ln/>
        </p:spPr>
        <p:txBody>
          <a:bodyPr wrap="square" lIns="0" tIns="0" rIns="0" bIns="0" rtlCol="0" anchor="ctr"/>
          <a:lstStyle/>
          <a:p>
            <a:pPr indent="0" marL="0">
              <a:buNone/>
            </a:pPr>
            <a:r>
              <a:rPr lang="en-US" sz="1600" b="1" dirty="0">
                <a:solidFill>
                  <a:schemeClr val="accent1"/>
                </a:solidFill>
              </a:rPr>
              <a:t>Design principles I'd defend</a:t>
            </a:r>
            <a:endParaRPr lang="en-US" sz="1600" dirty="0"/>
          </a:p>
        </p:txBody>
      </p:sp>
      <p:sp>
        <p:nvSpPr>
          <p:cNvPr id="11" name="Design principles I'd defend body"/>
          <p:cNvSpPr txBox="1"/>
          <p:nvPr/>
        </p:nvSpPr>
        <p:spPr>
          <a:xfrm>
            <a:off x="868680" y="3822192"/>
            <a:ext cx="4846320" cy="13716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Two stores, two consents: memory that helps you and memory that targets you never share a table</a:t>
            </a:r>
            <a:endParaRPr lang="en-US" sz="1250" dirty="0"/>
          </a:p>
          <a:p>
            <a:pPr marL="342900" indent="-342900">
              <a:spcAft>
                <a:spcPts val="400"/>
              </a:spcAft>
              <a:buSzPct val="100000"/>
              <a:buChar char="•"/>
            </a:pPr>
            <a:r>
              <a:rPr lang="en-US" sz="1250" dirty="0">
                <a:solidFill>
                  <a:schemeClr val="tx1"/>
                </a:solidFill>
              </a:rPr>
              <a:t>Every memory is a sentence the user can read, correct, or delete; no opaque embeddings as the source of truth</a:t>
            </a:r>
            <a:endParaRPr lang="en-US" sz="1250" dirty="0"/>
          </a:p>
          <a:p>
            <a:pPr marL="342900" indent="-342900">
              <a:spcAft>
                <a:spcPts val="400"/>
              </a:spcAft>
              <a:buSzPct val="100000"/>
              <a:buChar char="•"/>
            </a:pPr>
            <a:r>
              <a:rPr lang="en-US" sz="1250" dirty="0">
                <a:solidFill>
                  <a:schemeClr val="tx1"/>
                </a:solidFill>
              </a:rPr>
              <a:t>Memory for help is a loyalty asset: it is the one thing a competitor cannot copy</a:t>
            </a:r>
            <a:endParaRPr lang="en-US" sz="1250" dirty="0"/>
          </a:p>
        </p:txBody>
      </p:sp>
      <p:sp>
        <p:nvSpPr>
          <p:cNvPr id="12" name="Where trust breaks card"/>
          <p:cNvSpPr/>
          <p:nvPr/>
        </p:nvSpPr>
        <p:spPr>
          <a:xfrm>
            <a:off x="6217920" y="3200400"/>
            <a:ext cx="5303520" cy="2148840"/>
          </a:xfrm>
          <a:prstGeom prst="roundRect">
            <a:avLst>
              <a:gd name="adj" fmla="val 5106"/>
            </a:avLst>
          </a:prstGeom>
          <a:solidFill>
            <a:srgbClr val="F1EEE8"/>
          </a:solidFill>
          <a:ln w="12700">
            <a:solidFill>
              <a:srgbClr val="F1EEE8"/>
            </a:solidFill>
            <a:prstDash val="solid"/>
          </a:ln>
        </p:spPr>
      </p:sp>
      <p:sp>
        <p:nvSpPr>
          <p:cNvPr id="13" name="Where trust breaks head"/>
          <p:cNvSpPr txBox="1"/>
          <p:nvPr/>
        </p:nvSpPr>
        <p:spPr>
          <a:xfrm>
            <a:off x="6446520" y="3364992"/>
            <a:ext cx="4846320" cy="411480"/>
          </a:xfrm>
          <a:prstGeom prst="rect">
            <a:avLst/>
          </a:prstGeom>
          <a:noFill/>
          <a:ln/>
        </p:spPr>
        <p:txBody>
          <a:bodyPr wrap="square" lIns="0" tIns="0" rIns="0" bIns="0" rtlCol="0" anchor="ctr"/>
          <a:lstStyle/>
          <a:p>
            <a:pPr indent="0" marL="0">
              <a:buNone/>
            </a:pPr>
            <a:r>
              <a:rPr lang="en-US" sz="1600" b="1" dirty="0">
                <a:solidFill>
                  <a:schemeClr val="accent2"/>
                </a:solidFill>
              </a:rPr>
              <a:t>Where trust breaks</a:t>
            </a:r>
            <a:endParaRPr lang="en-US" sz="1600" dirty="0"/>
          </a:p>
        </p:txBody>
      </p:sp>
      <p:sp>
        <p:nvSpPr>
          <p:cNvPr id="14" name="Where trust breaks body"/>
          <p:cNvSpPr txBox="1"/>
          <p:nvPr/>
        </p:nvSpPr>
        <p:spPr>
          <a:xfrm>
            <a:off x="6446520" y="3822192"/>
            <a:ext cx="4846320" cy="13716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OpenAI's own line: advertisers never see chat content. True and insufficient: the model sees it, and picks the ad</a:t>
            </a:r>
            <a:endParaRPr lang="en-US" sz="1250" dirty="0"/>
          </a:p>
          <a:p>
            <a:pPr marL="342900" indent="-342900">
              <a:spcAft>
                <a:spcPts val="400"/>
              </a:spcAft>
              <a:buSzPct val="100000"/>
              <a:buChar char="•"/>
            </a:pPr>
            <a:r>
              <a:rPr lang="en-US" sz="1250" dirty="0">
                <a:solidFill>
                  <a:schemeClr val="tx1"/>
                </a:solidFill>
              </a:rPr>
              <a:t>Users cannot tell whether a recommendation came from memory-for-help or memory-for-ads</a:t>
            </a:r>
            <a:endParaRPr lang="en-US" sz="1250" dirty="0"/>
          </a:p>
          <a:p>
            <a:pPr marL="342900" indent="-342900">
              <a:spcAft>
                <a:spcPts val="400"/>
              </a:spcAft>
              <a:buSzPct val="100000"/>
              <a:buChar char="•"/>
            </a:pPr>
            <a:r>
              <a:rPr lang="en-US" sz="1250" dirty="0">
                <a:solidFill>
                  <a:schemeClr val="tx1"/>
                </a:solidFill>
              </a:rPr>
              <a:t>Poisoned memory is a persistent ad: a planted note survives sessions and restarts (OWASP ASI06)</a:t>
            </a:r>
            <a:endParaRPr lang="en-US" sz="1250" dirty="0"/>
          </a:p>
        </p:txBody>
      </p:sp>
      <p:sp>
        <p:nvSpPr>
          <p:cNvPr id="15" name="talk strip"/>
          <p:cNvSpPr/>
          <p:nvPr/>
        </p:nvSpPr>
        <p:spPr>
          <a:xfrm>
            <a:off x="640080" y="5532120"/>
            <a:ext cx="10881360" cy="731520"/>
          </a:xfrm>
          <a:prstGeom prst="roundRect">
            <a:avLst>
              <a:gd name="adj" fmla="val 12500"/>
            </a:avLst>
          </a:prstGeom>
          <a:solidFill>
            <a:srgbClr val="FDE4D3"/>
          </a:solidFill>
          <a:ln w="12700">
            <a:solidFill>
              <a:srgbClr val="FDE4D3"/>
            </a:solidFill>
            <a:prstDash val="solid"/>
          </a:ln>
        </p:spPr>
      </p:sp>
      <p:sp>
        <p:nvSpPr>
          <p:cNvPr id="16" name="talk text"/>
          <p:cNvSpPr txBox="1"/>
          <p:nvPr/>
        </p:nvSpPr>
        <p:spPr>
          <a:xfrm>
            <a:off x="822960" y="5577840"/>
            <a:ext cx="10515600" cy="640080"/>
          </a:xfrm>
          <a:prstGeom prst="rect">
            <a:avLst/>
          </a:prstGeom>
          <a:noFill/>
          <a:ln/>
        </p:spPr>
        <p:txBody>
          <a:bodyPr wrap="square" lIns="0" tIns="0" rIns="0" bIns="0" rtlCol="0" anchor="ctr"/>
          <a:lstStyle/>
          <a:p>
            <a:pPr indent="0" marL="0">
              <a:buNone/>
            </a:pPr>
            <a:r>
              <a:rPr lang="en-US" sz="1300" b="1" i="1" dirty="0">
                <a:solidFill>
                  <a:schemeClr val="accent1"/>
                </a:solidFill>
              </a:rPr>
              <a:t>Say: </a:t>
            </a:r>
            <a:pPr indent="0" marL="0">
              <a:buNone/>
            </a:pPr>
            <a:r>
              <a:rPr lang="en-US" sz="1300" i="1" dirty="0">
                <a:solidFill>
                  <a:schemeClr val="tx1"/>
                </a:solidFill>
              </a:rPr>
              <a:t>"The moment memory funds itself through ads, every 'you might like' answer is suspect. Keep help memory and ads memory in different rooms with different keys, and show the user which door the answer came through."</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777240"/>
          </a:xfrm>
          <a:prstGeom prst="rect">
            <a:avLst/>
          </a:prstGeom>
          <a:noFill/>
          <a:ln/>
        </p:spPr>
        <p:txBody>
          <a:bodyPr wrap="square" lIns="0" tIns="0" rIns="0" bIns="0" rtlCol="0"/>
          <a:lstStyle/>
          <a:p>
            <a:pPr algn="l" indent="0" marL="0">
              <a:buNone/>
            </a:pPr>
            <a:r>
              <a:rPr lang="en-US" sz="2600" b="1" dirty="0">
                <a:solidFill>
                  <a:schemeClr val="tx1"/>
                </a:solidFill>
              </a:rPr>
              <a:t>Device or cloud? Memory local, learning central</a:t>
            </a:r>
            <a:endParaRPr lang="en-US" sz="2600" dirty="0"/>
          </a:p>
        </p:txBody>
      </p:sp>
      <p:sp>
        <p:nvSpPr>
          <p:cNvPr id="3" name="dc row 0"/>
          <p:cNvSpPr/>
          <p:nvPr/>
        </p:nvSpPr>
        <p:spPr>
          <a:xfrm>
            <a:off x="640080" y="1371600"/>
            <a:ext cx="10881360" cy="896112"/>
          </a:xfrm>
          <a:prstGeom prst="roundRect">
            <a:avLst>
              <a:gd name="adj" fmla="val 10204"/>
            </a:avLst>
          </a:prstGeom>
          <a:solidFill>
            <a:srgbClr val="F1EEE8"/>
          </a:solidFill>
          <a:ln w="12700">
            <a:solidFill>
              <a:srgbClr val="F1EEE8"/>
            </a:solidFill>
            <a:prstDash val="solid"/>
          </a:ln>
        </p:spPr>
      </p:sp>
      <p:sp>
        <p:nvSpPr>
          <p:cNvPr id="4" name="dc dot 0"/>
          <p:cNvSpPr/>
          <p:nvPr/>
        </p:nvSpPr>
        <p:spPr>
          <a:xfrm>
            <a:off x="822960" y="1609344"/>
            <a:ext cx="420624" cy="420624"/>
          </a:xfrm>
          <a:prstGeom prst="ellipse">
            <a:avLst/>
          </a:prstGeom>
          <a:solidFill>
            <a:srgbClr val="0F766E"/>
          </a:solidFill>
          <a:ln w="12700">
            <a:solidFill>
              <a:srgbClr val="0F766E"/>
            </a:solidFill>
            <a:prstDash val="solid"/>
          </a:ln>
        </p:spPr>
      </p:sp>
      <p:sp>
        <p:nvSpPr>
          <p:cNvPr id="5" name="dc what 0"/>
          <p:cNvSpPr txBox="1"/>
          <p:nvPr/>
        </p:nvSpPr>
        <p:spPr>
          <a:xfrm>
            <a:off x="1417320" y="1463040"/>
            <a:ext cx="2194560" cy="713232"/>
          </a:xfrm>
          <a:prstGeom prst="rect">
            <a:avLst/>
          </a:prstGeom>
          <a:noFill/>
          <a:ln/>
        </p:spPr>
        <p:txBody>
          <a:bodyPr wrap="square" lIns="0" tIns="0" rIns="0" bIns="0" rtlCol="0" anchor="ctr"/>
          <a:lstStyle/>
          <a:p>
            <a:pPr indent="0" marL="0">
              <a:buNone/>
            </a:pPr>
            <a:r>
              <a:rPr lang="en-US" sz="1300" b="1" dirty="0">
                <a:solidFill>
                  <a:schemeClr val="tx1"/>
                </a:solidFill>
              </a:rPr>
              <a:t>Store (facts, prefs)</a:t>
            </a:r>
            <a:endParaRPr lang="en-US" sz="1300" dirty="0"/>
          </a:p>
        </p:txBody>
      </p:sp>
      <p:sp>
        <p:nvSpPr>
          <p:cNvPr id="6" name="dc where 0"/>
          <p:cNvSpPr txBox="1"/>
          <p:nvPr/>
        </p:nvSpPr>
        <p:spPr>
          <a:xfrm>
            <a:off x="3657600" y="1463040"/>
            <a:ext cx="1920240" cy="713232"/>
          </a:xfrm>
          <a:prstGeom prst="rect">
            <a:avLst/>
          </a:prstGeom>
          <a:noFill/>
          <a:ln/>
        </p:spPr>
        <p:txBody>
          <a:bodyPr wrap="square" lIns="0" tIns="0" rIns="0" bIns="0" rtlCol="0" anchor="ctr"/>
          <a:lstStyle/>
          <a:p>
            <a:pPr indent="0" marL="0">
              <a:buNone/>
            </a:pPr>
            <a:r>
              <a:rPr lang="en-US" sz="1300" b="1" dirty="0">
                <a:solidFill>
                  <a:schemeClr val="accent1"/>
                </a:solidFill>
              </a:rPr>
              <a:t>Device-first</a:t>
            </a:r>
            <a:endParaRPr lang="en-US" sz="1300" dirty="0"/>
          </a:p>
        </p:txBody>
      </p:sp>
      <p:sp>
        <p:nvSpPr>
          <p:cNvPr id="7" name="dc why 0"/>
          <p:cNvSpPr txBox="1"/>
          <p:nvPr/>
        </p:nvSpPr>
        <p:spPr>
          <a:xfrm>
            <a:off x="5669280" y="1463040"/>
            <a:ext cx="5669280" cy="713232"/>
          </a:xfrm>
          <a:prstGeom prst="rect">
            <a:avLst/>
          </a:prstGeom>
          <a:noFill/>
          <a:ln/>
        </p:spPr>
        <p:txBody>
          <a:bodyPr wrap="square" lIns="0" tIns="0" rIns="0" bIns="0" rtlCol="0" anchor="ctr"/>
          <a:lstStyle/>
          <a:p>
            <a:pPr indent="0" marL="0">
              <a:buNone/>
            </a:pPr>
            <a:r>
              <a:rPr lang="en-US" sz="1150" dirty="0">
                <a:solidFill>
                  <a:schemeClr val="tx2"/>
                </a:solidFill>
              </a:rPr>
              <a:t>Apple's 2026 SDK: ~3B on-device model answers first, cloud is fallback; local embed/store/retrieve/generate for personal data. Gemini Nano / Gemma 3n on Android.</a:t>
            </a:r>
            <a:endParaRPr lang="en-US" sz="1150" dirty="0"/>
          </a:p>
        </p:txBody>
      </p:sp>
      <p:sp>
        <p:nvSpPr>
          <p:cNvPr id="8" name="dc row 1"/>
          <p:cNvSpPr/>
          <p:nvPr/>
        </p:nvSpPr>
        <p:spPr>
          <a:xfrm>
            <a:off x="640080" y="2377440"/>
            <a:ext cx="10881360" cy="896112"/>
          </a:xfrm>
          <a:prstGeom prst="roundRect">
            <a:avLst>
              <a:gd name="adj" fmla="val 10204"/>
            </a:avLst>
          </a:prstGeom>
          <a:solidFill>
            <a:srgbClr val="F1EEE8"/>
          </a:solidFill>
          <a:ln w="12700">
            <a:solidFill>
              <a:srgbClr val="F1EEE8"/>
            </a:solidFill>
            <a:prstDash val="solid"/>
          </a:ln>
        </p:spPr>
      </p:sp>
      <p:sp>
        <p:nvSpPr>
          <p:cNvPr id="9" name="dc dot 1"/>
          <p:cNvSpPr/>
          <p:nvPr/>
        </p:nvSpPr>
        <p:spPr>
          <a:xfrm>
            <a:off x="822960" y="2615184"/>
            <a:ext cx="420624" cy="420624"/>
          </a:xfrm>
          <a:prstGeom prst="ellipse">
            <a:avLst/>
          </a:prstGeom>
          <a:solidFill>
            <a:srgbClr val="7C3AED"/>
          </a:solidFill>
          <a:ln w="12700">
            <a:solidFill>
              <a:srgbClr val="7C3AED"/>
            </a:solidFill>
            <a:prstDash val="solid"/>
          </a:ln>
        </p:spPr>
      </p:sp>
      <p:sp>
        <p:nvSpPr>
          <p:cNvPr id="10" name="dc what 1"/>
          <p:cNvSpPr txBox="1"/>
          <p:nvPr/>
        </p:nvSpPr>
        <p:spPr>
          <a:xfrm>
            <a:off x="1417320" y="2468880"/>
            <a:ext cx="2194560" cy="713232"/>
          </a:xfrm>
          <a:prstGeom prst="rect">
            <a:avLst/>
          </a:prstGeom>
          <a:noFill/>
          <a:ln/>
        </p:spPr>
        <p:txBody>
          <a:bodyPr wrap="square" lIns="0" tIns="0" rIns="0" bIns="0" rtlCol="0" anchor="ctr"/>
          <a:lstStyle/>
          <a:p>
            <a:pPr indent="0" marL="0">
              <a:buNone/>
            </a:pPr>
            <a:r>
              <a:rPr lang="en-US" sz="1300" b="1" dirty="0">
                <a:solidFill>
                  <a:schemeClr val="tx1"/>
                </a:solidFill>
              </a:rPr>
              <a:t>Retrieval</a:t>
            </a:r>
            <a:endParaRPr lang="en-US" sz="1300" dirty="0"/>
          </a:p>
        </p:txBody>
      </p:sp>
      <p:sp>
        <p:nvSpPr>
          <p:cNvPr id="11" name="dc where 1"/>
          <p:cNvSpPr txBox="1"/>
          <p:nvPr/>
        </p:nvSpPr>
        <p:spPr>
          <a:xfrm>
            <a:off x="3657600" y="2468880"/>
            <a:ext cx="1920240" cy="713232"/>
          </a:xfrm>
          <a:prstGeom prst="rect">
            <a:avLst/>
          </a:prstGeom>
          <a:noFill/>
          <a:ln/>
        </p:spPr>
        <p:txBody>
          <a:bodyPr wrap="square" lIns="0" tIns="0" rIns="0" bIns="0" rtlCol="0" anchor="ctr"/>
          <a:lstStyle/>
          <a:p>
            <a:pPr indent="0" marL="0">
              <a:buNone/>
            </a:pPr>
            <a:r>
              <a:rPr lang="en-US" sz="1300" b="1" dirty="0">
                <a:solidFill>
                  <a:schemeClr val="accent1"/>
                </a:solidFill>
              </a:rPr>
              <a:t>Device, with cloud assist</a:t>
            </a:r>
            <a:endParaRPr lang="en-US" sz="1300" dirty="0"/>
          </a:p>
        </p:txBody>
      </p:sp>
      <p:sp>
        <p:nvSpPr>
          <p:cNvPr id="12" name="dc why 1"/>
          <p:cNvSpPr txBox="1"/>
          <p:nvPr/>
        </p:nvSpPr>
        <p:spPr>
          <a:xfrm>
            <a:off x="5669280" y="2468880"/>
            <a:ext cx="5669280" cy="713232"/>
          </a:xfrm>
          <a:prstGeom prst="rect">
            <a:avLst/>
          </a:prstGeom>
          <a:noFill/>
          <a:ln/>
        </p:spPr>
        <p:txBody>
          <a:bodyPr wrap="square" lIns="0" tIns="0" rIns="0" bIns="0" rtlCol="0" anchor="ctr"/>
          <a:lstStyle/>
          <a:p>
            <a:pPr indent="0" marL="0">
              <a:buNone/>
            </a:pPr>
            <a:r>
              <a:rPr lang="en-US" sz="1150" dirty="0">
                <a:solidFill>
                  <a:schemeClr val="tx2"/>
                </a:solidFill>
              </a:rPr>
              <a:t>Index on the Neural Engine (38 TOPS on M4/A18). Hard queries go up with a minimal, consented slice.</a:t>
            </a:r>
            <a:endParaRPr lang="en-US" sz="1150" dirty="0"/>
          </a:p>
        </p:txBody>
      </p:sp>
      <p:sp>
        <p:nvSpPr>
          <p:cNvPr id="13" name="dc row 2"/>
          <p:cNvSpPr/>
          <p:nvPr/>
        </p:nvSpPr>
        <p:spPr>
          <a:xfrm>
            <a:off x="640080" y="3383280"/>
            <a:ext cx="10881360" cy="896112"/>
          </a:xfrm>
          <a:prstGeom prst="roundRect">
            <a:avLst>
              <a:gd name="adj" fmla="val 10204"/>
            </a:avLst>
          </a:prstGeom>
          <a:solidFill>
            <a:srgbClr val="F1EEE8"/>
          </a:solidFill>
          <a:ln w="12700">
            <a:solidFill>
              <a:srgbClr val="F1EEE8"/>
            </a:solidFill>
            <a:prstDash val="solid"/>
          </a:ln>
        </p:spPr>
      </p:sp>
      <p:sp>
        <p:nvSpPr>
          <p:cNvPr id="14" name="dc dot 2"/>
          <p:cNvSpPr/>
          <p:nvPr/>
        </p:nvSpPr>
        <p:spPr>
          <a:xfrm>
            <a:off x="822960" y="3621024"/>
            <a:ext cx="420624" cy="420624"/>
          </a:xfrm>
          <a:prstGeom prst="ellipse">
            <a:avLst/>
          </a:prstGeom>
          <a:solidFill>
            <a:srgbClr val="C2410C"/>
          </a:solidFill>
          <a:ln w="12700">
            <a:solidFill>
              <a:srgbClr val="C2410C"/>
            </a:solidFill>
            <a:prstDash val="solid"/>
          </a:ln>
        </p:spPr>
      </p:sp>
      <p:sp>
        <p:nvSpPr>
          <p:cNvPr id="15" name="dc what 2"/>
          <p:cNvSpPr txBox="1"/>
          <p:nvPr/>
        </p:nvSpPr>
        <p:spPr>
          <a:xfrm>
            <a:off x="1417320" y="3474720"/>
            <a:ext cx="2194560" cy="713232"/>
          </a:xfrm>
          <a:prstGeom prst="rect">
            <a:avLst/>
          </a:prstGeom>
          <a:noFill/>
          <a:ln/>
        </p:spPr>
        <p:txBody>
          <a:bodyPr wrap="square" lIns="0" tIns="0" rIns="0" bIns="0" rtlCol="0" anchor="ctr"/>
          <a:lstStyle/>
          <a:p>
            <a:pPr indent="0" marL="0">
              <a:buNone/>
            </a:pPr>
            <a:r>
              <a:rPr lang="en-US" sz="1300" b="1" dirty="0">
                <a:solidFill>
                  <a:schemeClr val="tx1"/>
                </a:solidFill>
              </a:rPr>
              <a:t>Learning into weights</a:t>
            </a:r>
            <a:endParaRPr lang="en-US" sz="1300" dirty="0"/>
          </a:p>
        </p:txBody>
      </p:sp>
      <p:sp>
        <p:nvSpPr>
          <p:cNvPr id="16" name="dc where 2"/>
          <p:cNvSpPr txBox="1"/>
          <p:nvPr/>
        </p:nvSpPr>
        <p:spPr>
          <a:xfrm>
            <a:off x="3657600" y="3474720"/>
            <a:ext cx="1920240" cy="713232"/>
          </a:xfrm>
          <a:prstGeom prst="rect">
            <a:avLst/>
          </a:prstGeom>
          <a:noFill/>
          <a:ln/>
        </p:spPr>
        <p:txBody>
          <a:bodyPr wrap="square" lIns="0" tIns="0" rIns="0" bIns="0" rtlCol="0" anchor="ctr"/>
          <a:lstStyle/>
          <a:p>
            <a:pPr indent="0" marL="0">
              <a:buNone/>
            </a:pPr>
            <a:r>
              <a:rPr lang="en-US" sz="1300" b="1" dirty="0">
                <a:solidFill>
                  <a:schemeClr val="accent1"/>
                </a:solidFill>
              </a:rPr>
              <a:t>Cloud, aggregated</a:t>
            </a:r>
            <a:endParaRPr lang="en-US" sz="1300" dirty="0"/>
          </a:p>
        </p:txBody>
      </p:sp>
      <p:sp>
        <p:nvSpPr>
          <p:cNvPr id="17" name="dc why 2"/>
          <p:cNvSpPr txBox="1"/>
          <p:nvPr/>
        </p:nvSpPr>
        <p:spPr>
          <a:xfrm>
            <a:off x="5669280" y="3474720"/>
            <a:ext cx="5669280" cy="713232"/>
          </a:xfrm>
          <a:prstGeom prst="rect">
            <a:avLst/>
          </a:prstGeom>
          <a:noFill/>
          <a:ln/>
        </p:spPr>
        <p:txBody>
          <a:bodyPr wrap="square" lIns="0" tIns="0" rIns="0" bIns="0" rtlCol="0" anchor="ctr"/>
          <a:lstStyle/>
          <a:p>
            <a:pPr indent="0" marL="0">
              <a:buNone/>
            </a:pPr>
            <a:r>
              <a:rPr lang="en-US" sz="1150" dirty="0">
                <a:solidFill>
                  <a:schemeClr val="tx2"/>
                </a:solidFill>
              </a:rPr>
              <a:t>Per-user adapters are too heavy to serve on a phone fleet today. Federated Nested Learning is the research path: train memories collaboratively, keep data local.</a:t>
            </a:r>
            <a:endParaRPr lang="en-US" sz="1150" dirty="0"/>
          </a:p>
        </p:txBody>
      </p:sp>
      <p:sp>
        <p:nvSpPr>
          <p:cNvPr id="18" name="dc row 3"/>
          <p:cNvSpPr/>
          <p:nvPr/>
        </p:nvSpPr>
        <p:spPr>
          <a:xfrm>
            <a:off x="640080" y="4389120"/>
            <a:ext cx="10881360" cy="896112"/>
          </a:xfrm>
          <a:prstGeom prst="roundRect">
            <a:avLst>
              <a:gd name="adj" fmla="val 10204"/>
            </a:avLst>
          </a:prstGeom>
          <a:solidFill>
            <a:srgbClr val="F1EEE8"/>
          </a:solidFill>
          <a:ln w="12700">
            <a:solidFill>
              <a:srgbClr val="F1EEE8"/>
            </a:solidFill>
            <a:prstDash val="solid"/>
          </a:ln>
        </p:spPr>
      </p:sp>
      <p:sp>
        <p:nvSpPr>
          <p:cNvPr id="19" name="dc dot 3"/>
          <p:cNvSpPr/>
          <p:nvPr/>
        </p:nvSpPr>
        <p:spPr>
          <a:xfrm>
            <a:off x="822960" y="4626864"/>
            <a:ext cx="420624" cy="420624"/>
          </a:xfrm>
          <a:prstGeom prst="ellipse">
            <a:avLst/>
          </a:prstGeom>
          <a:solidFill>
            <a:srgbClr val="F59E0B"/>
          </a:solidFill>
          <a:ln w="12700">
            <a:solidFill>
              <a:srgbClr val="F59E0B"/>
            </a:solidFill>
            <a:prstDash val="solid"/>
          </a:ln>
        </p:spPr>
      </p:sp>
      <p:sp>
        <p:nvSpPr>
          <p:cNvPr id="20" name="dc what 3"/>
          <p:cNvSpPr txBox="1"/>
          <p:nvPr/>
        </p:nvSpPr>
        <p:spPr>
          <a:xfrm>
            <a:off x="1417320" y="4480560"/>
            <a:ext cx="2194560" cy="713232"/>
          </a:xfrm>
          <a:prstGeom prst="rect">
            <a:avLst/>
          </a:prstGeom>
          <a:noFill/>
          <a:ln/>
        </p:spPr>
        <p:txBody>
          <a:bodyPr wrap="square" lIns="0" tIns="0" rIns="0" bIns="0" rtlCol="0" anchor="ctr"/>
          <a:lstStyle/>
          <a:p>
            <a:pPr indent="0" marL="0">
              <a:buNone/>
            </a:pPr>
            <a:r>
              <a:rPr lang="en-US" sz="1300" b="1" dirty="0">
                <a:solidFill>
                  <a:schemeClr val="tx1"/>
                </a:solidFill>
              </a:rPr>
              <a:t>Portability</a:t>
            </a:r>
            <a:endParaRPr lang="en-US" sz="1300" dirty="0"/>
          </a:p>
        </p:txBody>
      </p:sp>
      <p:sp>
        <p:nvSpPr>
          <p:cNvPr id="21" name="dc where 3"/>
          <p:cNvSpPr txBox="1"/>
          <p:nvPr/>
        </p:nvSpPr>
        <p:spPr>
          <a:xfrm>
            <a:off x="3657600" y="4480560"/>
            <a:ext cx="1920240" cy="713232"/>
          </a:xfrm>
          <a:prstGeom prst="rect">
            <a:avLst/>
          </a:prstGeom>
          <a:noFill/>
          <a:ln/>
        </p:spPr>
        <p:txBody>
          <a:bodyPr wrap="square" lIns="0" tIns="0" rIns="0" bIns="0" rtlCol="0" anchor="ctr"/>
          <a:lstStyle/>
          <a:p>
            <a:pPr indent="0" marL="0">
              <a:buNone/>
            </a:pPr>
            <a:r>
              <a:rPr lang="en-US" sz="1300" b="1" dirty="0">
                <a:solidFill>
                  <a:schemeClr val="accent1"/>
                </a:solidFill>
              </a:rPr>
              <a:t>User-owned export</a:t>
            </a:r>
            <a:endParaRPr lang="en-US" sz="1300" dirty="0"/>
          </a:p>
        </p:txBody>
      </p:sp>
      <p:sp>
        <p:nvSpPr>
          <p:cNvPr id="22" name="dc why 3"/>
          <p:cNvSpPr txBox="1"/>
          <p:nvPr/>
        </p:nvSpPr>
        <p:spPr>
          <a:xfrm>
            <a:off x="5669280" y="4480560"/>
            <a:ext cx="5669280" cy="713232"/>
          </a:xfrm>
          <a:prstGeom prst="rect">
            <a:avLst/>
          </a:prstGeom>
          <a:noFill/>
          <a:ln/>
        </p:spPr>
        <p:txBody>
          <a:bodyPr wrap="square" lIns="0" tIns="0" rIns="0" bIns="0" rtlCol="0" anchor="ctr"/>
          <a:lstStyle/>
          <a:p>
            <a:pPr indent="0" marL="0">
              <a:buNone/>
            </a:pPr>
            <a:r>
              <a:rPr lang="en-US" sz="1150" dirty="0">
                <a:solidFill>
                  <a:schemeClr val="tx2"/>
                </a:solidFill>
              </a:rPr>
              <a:t>No assistant remembers you across vendors in 2026. The 'bring your own context' world needs a memory file format, like a password manager for who you are.</a:t>
            </a:r>
            <a:endParaRPr lang="en-US" sz="1150" dirty="0"/>
          </a:p>
        </p:txBody>
      </p:sp>
      <p:sp>
        <p:nvSpPr>
          <p:cNvPr id="23" name="talk strip"/>
          <p:cNvSpPr/>
          <p:nvPr/>
        </p:nvSpPr>
        <p:spPr>
          <a:xfrm>
            <a:off x="640080" y="5532120"/>
            <a:ext cx="10881360" cy="731520"/>
          </a:xfrm>
          <a:prstGeom prst="roundRect">
            <a:avLst>
              <a:gd name="adj" fmla="val 12500"/>
            </a:avLst>
          </a:prstGeom>
          <a:solidFill>
            <a:srgbClr val="FDE4D3"/>
          </a:solidFill>
          <a:ln w="12700">
            <a:solidFill>
              <a:srgbClr val="FDE4D3"/>
            </a:solidFill>
            <a:prstDash val="solid"/>
          </a:ln>
        </p:spPr>
      </p:sp>
      <p:sp>
        <p:nvSpPr>
          <p:cNvPr id="24" name="talk text"/>
          <p:cNvSpPr txBox="1"/>
          <p:nvPr/>
        </p:nvSpPr>
        <p:spPr>
          <a:xfrm>
            <a:off x="822960" y="5577840"/>
            <a:ext cx="10515600" cy="640080"/>
          </a:xfrm>
          <a:prstGeom prst="rect">
            <a:avLst/>
          </a:prstGeom>
          <a:noFill/>
          <a:ln/>
        </p:spPr>
        <p:txBody>
          <a:bodyPr wrap="square" lIns="0" tIns="0" rIns="0" bIns="0" rtlCol="0" anchor="ctr"/>
          <a:lstStyle/>
          <a:p>
            <a:pPr indent="0" marL="0">
              <a:buNone/>
            </a:pPr>
            <a:r>
              <a:rPr lang="en-US" sz="1300" b="1" i="1" dirty="0">
                <a:solidFill>
                  <a:schemeClr val="accent1"/>
                </a:solidFill>
              </a:rPr>
              <a:t>Say: </a:t>
            </a:r>
            <a:pPr indent="0" marL="0">
              <a:buNone/>
            </a:pPr>
            <a:r>
              <a:rPr lang="en-US" sz="1300" i="1" dirty="0">
                <a:solidFill>
                  <a:schemeClr val="tx1"/>
                </a:solidFill>
              </a:rPr>
              <a:t>"Who pays? If the memory is on your device and the tokens are yours, you pay and it works for you. If the memory is in their cloud and the tokens are free, you are the inventory."</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777240"/>
          </a:xfrm>
          <a:prstGeom prst="rect">
            <a:avLst/>
          </a:prstGeom>
          <a:noFill/>
          <a:ln/>
        </p:spPr>
        <p:txBody>
          <a:bodyPr wrap="square" lIns="0" tIns="0" rIns="0" bIns="0" rtlCol="0"/>
          <a:lstStyle/>
          <a:p>
            <a:pPr algn="l" indent="0" marL="0">
              <a:buNone/>
            </a:pPr>
            <a:r>
              <a:rPr lang="en-US" sz="2600" b="1" dirty="0">
                <a:solidFill>
                  <a:schemeClr val="tx1"/>
                </a:solidFill>
              </a:rPr>
              <a:t>Hard questions I might get, and the short answers</a:t>
            </a:r>
            <a:endParaRPr lang="en-US" sz="2600" dirty="0"/>
          </a:p>
        </p:txBody>
      </p:sp>
      <p:sp>
        <p:nvSpPr>
          <p:cNvPr id="3" name="qa 0"/>
          <p:cNvSpPr/>
          <p:nvPr/>
        </p:nvSpPr>
        <p:spPr>
          <a:xfrm>
            <a:off x="640080" y="1371600"/>
            <a:ext cx="5349240" cy="1234440"/>
          </a:xfrm>
          <a:prstGeom prst="roundRect">
            <a:avLst>
              <a:gd name="adj" fmla="val 7407"/>
            </a:avLst>
          </a:prstGeom>
          <a:solidFill>
            <a:srgbClr val="F1EEE8"/>
          </a:solidFill>
          <a:ln w="12700">
            <a:solidFill>
              <a:srgbClr val="F1EEE8"/>
            </a:solidFill>
            <a:prstDash val="solid"/>
          </a:ln>
        </p:spPr>
      </p:sp>
      <p:sp>
        <p:nvSpPr>
          <p:cNvPr id="4" name="q 0"/>
          <p:cNvSpPr txBox="1"/>
          <p:nvPr/>
        </p:nvSpPr>
        <p:spPr>
          <a:xfrm>
            <a:off x="822960" y="1463040"/>
            <a:ext cx="4983480" cy="320040"/>
          </a:xfrm>
          <a:prstGeom prst="rect">
            <a:avLst/>
          </a:prstGeom>
          <a:noFill/>
          <a:ln/>
        </p:spPr>
        <p:txBody>
          <a:bodyPr wrap="square" lIns="0" tIns="0" rIns="0" bIns="0" rtlCol="0" anchor="ctr"/>
          <a:lstStyle/>
          <a:p>
            <a:pPr indent="0" marL="0">
              <a:buNone/>
            </a:pPr>
            <a:r>
              <a:rPr lang="en-US" sz="1300" b="1" dirty="0">
                <a:solidFill>
                  <a:schemeClr val="accent1"/>
                </a:solidFill>
              </a:rPr>
              <a:t>Isn't 1M+ context the end of memory systems?</a:t>
            </a:r>
            <a:endParaRPr lang="en-US" sz="1300" dirty="0"/>
          </a:p>
        </p:txBody>
      </p:sp>
      <p:sp>
        <p:nvSpPr>
          <p:cNvPr id="5" name="a 0"/>
          <p:cNvSpPr txBox="1"/>
          <p:nvPr/>
        </p:nvSpPr>
        <p:spPr>
          <a:xfrm>
            <a:off x="822960" y="1801368"/>
            <a:ext cx="4983480" cy="749808"/>
          </a:xfrm>
          <a:prstGeom prst="rect">
            <a:avLst/>
          </a:prstGeom>
          <a:noFill/>
          <a:ln/>
        </p:spPr>
        <p:txBody>
          <a:bodyPr wrap="square" lIns="0" tIns="0" rIns="0" bIns="0" rtlCol="0" anchor="t"/>
          <a:lstStyle/>
          <a:p>
            <a:pPr indent="0" marL="0">
              <a:buNone/>
            </a:pPr>
            <a:r>
              <a:rPr lang="en-US" sz="1150" dirty="0">
                <a:solidFill>
                  <a:schemeClr val="tx1"/>
                </a:solidFill>
              </a:rPr>
              <a:t>No. Longer context enlarges working memory; it does not give persistence, selective retrieval over months, or governance. And attention is &gt;90% of the forward pass at 1M tokens.</a:t>
            </a:r>
            <a:endParaRPr lang="en-US" sz="1150" dirty="0"/>
          </a:p>
        </p:txBody>
      </p:sp>
      <p:sp>
        <p:nvSpPr>
          <p:cNvPr id="6" name="qa 1"/>
          <p:cNvSpPr/>
          <p:nvPr/>
        </p:nvSpPr>
        <p:spPr>
          <a:xfrm>
            <a:off x="6172200" y="1371600"/>
            <a:ext cx="5349240" cy="1234440"/>
          </a:xfrm>
          <a:prstGeom prst="roundRect">
            <a:avLst>
              <a:gd name="adj" fmla="val 7407"/>
            </a:avLst>
          </a:prstGeom>
          <a:solidFill>
            <a:srgbClr val="F1EEE8"/>
          </a:solidFill>
          <a:ln w="12700">
            <a:solidFill>
              <a:srgbClr val="F1EEE8"/>
            </a:solidFill>
            <a:prstDash val="solid"/>
          </a:ln>
        </p:spPr>
      </p:sp>
      <p:sp>
        <p:nvSpPr>
          <p:cNvPr id="7" name="q 1"/>
          <p:cNvSpPr txBox="1"/>
          <p:nvPr/>
        </p:nvSpPr>
        <p:spPr>
          <a:xfrm>
            <a:off x="6355080" y="1463040"/>
            <a:ext cx="4983480" cy="320040"/>
          </a:xfrm>
          <a:prstGeom prst="rect">
            <a:avLst/>
          </a:prstGeom>
          <a:noFill/>
          <a:ln/>
        </p:spPr>
        <p:txBody>
          <a:bodyPr wrap="square" lIns="0" tIns="0" rIns="0" bIns="0" rtlCol="0" anchor="ctr"/>
          <a:lstStyle/>
          <a:p>
            <a:pPr indent="0" marL="0">
              <a:buNone/>
            </a:pPr>
            <a:r>
              <a:rPr lang="en-US" sz="1300" b="1" dirty="0">
                <a:solidFill>
                  <a:schemeClr val="accent1"/>
                </a:solidFill>
              </a:rPr>
              <a:t>Does 'memory as weights' work today?</a:t>
            </a:r>
            <a:endParaRPr lang="en-US" sz="1300" dirty="0"/>
          </a:p>
        </p:txBody>
      </p:sp>
      <p:sp>
        <p:nvSpPr>
          <p:cNvPr id="8" name="a 1"/>
          <p:cNvSpPr txBox="1"/>
          <p:nvPr/>
        </p:nvSpPr>
        <p:spPr>
          <a:xfrm>
            <a:off x="6355080" y="1801368"/>
            <a:ext cx="4983480" cy="749808"/>
          </a:xfrm>
          <a:prstGeom prst="rect">
            <a:avLst/>
          </a:prstGeom>
          <a:noFill/>
          <a:ln/>
        </p:spPr>
        <p:txBody>
          <a:bodyPr wrap="square" lIns="0" tIns="0" rIns="0" bIns="0" rtlCol="0" anchor="t"/>
          <a:lstStyle/>
          <a:p>
            <a:pPr indent="0" marL="0">
              <a:buNone/>
            </a:pPr>
            <a:r>
              <a:rPr lang="en-US" sz="1150" dirty="0">
                <a:solidFill>
                  <a:schemeClr val="tx1"/>
                </a:solidFill>
              </a:rPr>
              <a:t>At 3B scale in papers, yes. In production, memory lives in text. Weight-space memory lacks deletion guarantees and serving economics.</a:t>
            </a:r>
            <a:endParaRPr lang="en-US" sz="1150" dirty="0"/>
          </a:p>
        </p:txBody>
      </p:sp>
      <p:sp>
        <p:nvSpPr>
          <p:cNvPr id="9" name="qa 2"/>
          <p:cNvSpPr/>
          <p:nvPr/>
        </p:nvSpPr>
        <p:spPr>
          <a:xfrm>
            <a:off x="640080" y="2743200"/>
            <a:ext cx="5349240" cy="1234440"/>
          </a:xfrm>
          <a:prstGeom prst="roundRect">
            <a:avLst>
              <a:gd name="adj" fmla="val 7407"/>
            </a:avLst>
          </a:prstGeom>
          <a:solidFill>
            <a:srgbClr val="F1EEE8"/>
          </a:solidFill>
          <a:ln w="12700">
            <a:solidFill>
              <a:srgbClr val="F1EEE8"/>
            </a:solidFill>
            <a:prstDash val="solid"/>
          </a:ln>
        </p:spPr>
      </p:sp>
      <p:sp>
        <p:nvSpPr>
          <p:cNvPr id="10" name="q 2"/>
          <p:cNvSpPr txBox="1"/>
          <p:nvPr/>
        </p:nvSpPr>
        <p:spPr>
          <a:xfrm>
            <a:off x="822960" y="2834640"/>
            <a:ext cx="4983480" cy="320040"/>
          </a:xfrm>
          <a:prstGeom prst="rect">
            <a:avLst/>
          </a:prstGeom>
          <a:noFill/>
          <a:ln/>
        </p:spPr>
        <p:txBody>
          <a:bodyPr wrap="square" lIns="0" tIns="0" rIns="0" bIns="0" rtlCol="0" anchor="ctr"/>
          <a:lstStyle/>
          <a:p>
            <a:pPr indent="0" marL="0">
              <a:buNone/>
            </a:pPr>
            <a:r>
              <a:rPr lang="en-US" sz="1300" b="1" dirty="0">
                <a:solidFill>
                  <a:schemeClr val="accent1"/>
                </a:solidFill>
              </a:rPr>
              <a:t>Why do bills grow when tokens get cheaper?</a:t>
            </a:r>
            <a:endParaRPr lang="en-US" sz="1300" dirty="0"/>
          </a:p>
        </p:txBody>
      </p:sp>
      <p:sp>
        <p:nvSpPr>
          <p:cNvPr id="11" name="a 2"/>
          <p:cNvSpPr txBox="1"/>
          <p:nvPr/>
        </p:nvSpPr>
        <p:spPr>
          <a:xfrm>
            <a:off x="822960" y="3172968"/>
            <a:ext cx="4983480" cy="749808"/>
          </a:xfrm>
          <a:prstGeom prst="rect">
            <a:avLst/>
          </a:prstGeom>
          <a:noFill/>
          <a:ln/>
        </p:spPr>
        <p:txBody>
          <a:bodyPr wrap="square" lIns="0" tIns="0" rIns="0" bIns="0" rtlCol="0" anchor="t"/>
          <a:lstStyle/>
          <a:p>
            <a:pPr indent="0" marL="0">
              <a:buNone/>
            </a:pPr>
            <a:r>
              <a:rPr lang="en-US" sz="1150" dirty="0">
                <a:solidFill>
                  <a:schemeClr val="tx1"/>
                </a:solidFill>
              </a:rPr>
              <a:t>Tasks got longer and agents re-read history. A memory layer cuts ~25K to ~7K tokens per call, so memory is a cost feature, not just a UX feature.</a:t>
            </a:r>
            <a:endParaRPr lang="en-US" sz="1150" dirty="0"/>
          </a:p>
        </p:txBody>
      </p:sp>
      <p:sp>
        <p:nvSpPr>
          <p:cNvPr id="12" name="qa 3"/>
          <p:cNvSpPr/>
          <p:nvPr/>
        </p:nvSpPr>
        <p:spPr>
          <a:xfrm>
            <a:off x="6172200" y="2743200"/>
            <a:ext cx="5349240" cy="1234440"/>
          </a:xfrm>
          <a:prstGeom prst="roundRect">
            <a:avLst>
              <a:gd name="adj" fmla="val 7407"/>
            </a:avLst>
          </a:prstGeom>
          <a:solidFill>
            <a:srgbClr val="F1EEE8"/>
          </a:solidFill>
          <a:ln w="12700">
            <a:solidFill>
              <a:srgbClr val="F1EEE8"/>
            </a:solidFill>
            <a:prstDash val="solid"/>
          </a:ln>
        </p:spPr>
      </p:sp>
      <p:sp>
        <p:nvSpPr>
          <p:cNvPr id="13" name="q 3"/>
          <p:cNvSpPr txBox="1"/>
          <p:nvPr/>
        </p:nvSpPr>
        <p:spPr>
          <a:xfrm>
            <a:off x="6355080" y="2834640"/>
            <a:ext cx="4983480" cy="320040"/>
          </a:xfrm>
          <a:prstGeom prst="rect">
            <a:avLst/>
          </a:prstGeom>
          <a:noFill/>
          <a:ln/>
        </p:spPr>
        <p:txBody>
          <a:bodyPr wrap="square" lIns="0" tIns="0" rIns="0" bIns="0" rtlCol="0" anchor="ctr"/>
          <a:lstStyle/>
          <a:p>
            <a:pPr indent="0" marL="0">
              <a:buNone/>
            </a:pPr>
            <a:r>
              <a:rPr lang="en-US" sz="1300" b="1" dirty="0">
                <a:solidFill>
                  <a:schemeClr val="accent1"/>
                </a:solidFill>
              </a:rPr>
              <a:t>Should founders fine-tune or build memory?</a:t>
            </a:r>
            <a:endParaRPr lang="en-US" sz="1300" dirty="0"/>
          </a:p>
        </p:txBody>
      </p:sp>
      <p:sp>
        <p:nvSpPr>
          <p:cNvPr id="14" name="a 3"/>
          <p:cNvSpPr txBox="1"/>
          <p:nvPr/>
        </p:nvSpPr>
        <p:spPr>
          <a:xfrm>
            <a:off x="6355080" y="3172968"/>
            <a:ext cx="4983480" cy="749808"/>
          </a:xfrm>
          <a:prstGeom prst="rect">
            <a:avLst/>
          </a:prstGeom>
          <a:noFill/>
          <a:ln/>
        </p:spPr>
        <p:txBody>
          <a:bodyPr wrap="square" lIns="0" tIns="0" rIns="0" bIns="0" rtlCol="0" anchor="t"/>
          <a:lstStyle/>
          <a:p>
            <a:pPr indent="0" marL="0">
              <a:buNone/>
            </a:pPr>
            <a:r>
              <a:rPr lang="en-US" sz="1150" dirty="0">
                <a:solidFill>
                  <a:schemeClr val="tx1"/>
                </a:solidFill>
              </a:rPr>
              <a:t>Build memory first, log everything, fine-tune what stops changing. Dreaming-style offline consolidation is the cheap middle step.</a:t>
            </a:r>
            <a:endParaRPr lang="en-US" sz="1150" dirty="0"/>
          </a:p>
        </p:txBody>
      </p:sp>
      <p:sp>
        <p:nvSpPr>
          <p:cNvPr id="15" name="qa 4"/>
          <p:cNvSpPr/>
          <p:nvPr/>
        </p:nvSpPr>
        <p:spPr>
          <a:xfrm>
            <a:off x="640080" y="4114800"/>
            <a:ext cx="5349240" cy="1234440"/>
          </a:xfrm>
          <a:prstGeom prst="roundRect">
            <a:avLst>
              <a:gd name="adj" fmla="val 7407"/>
            </a:avLst>
          </a:prstGeom>
          <a:solidFill>
            <a:srgbClr val="F1EEE8"/>
          </a:solidFill>
          <a:ln w="12700">
            <a:solidFill>
              <a:srgbClr val="F1EEE8"/>
            </a:solidFill>
            <a:prstDash val="solid"/>
          </a:ln>
        </p:spPr>
      </p:sp>
      <p:sp>
        <p:nvSpPr>
          <p:cNvPr id="16" name="q 4"/>
          <p:cNvSpPr txBox="1"/>
          <p:nvPr/>
        </p:nvSpPr>
        <p:spPr>
          <a:xfrm>
            <a:off x="822960" y="4206240"/>
            <a:ext cx="4983480" cy="320040"/>
          </a:xfrm>
          <a:prstGeom prst="rect">
            <a:avLst/>
          </a:prstGeom>
          <a:noFill/>
          <a:ln/>
        </p:spPr>
        <p:txBody>
          <a:bodyPr wrap="square" lIns="0" tIns="0" rIns="0" bIns="0" rtlCol="0" anchor="ctr"/>
          <a:lstStyle/>
          <a:p>
            <a:pPr indent="0" marL="0">
              <a:buNone/>
            </a:pPr>
            <a:r>
              <a:rPr lang="en-US" sz="1300" b="1" dirty="0">
                <a:solidFill>
                  <a:schemeClr val="accent1"/>
                </a:solidFill>
              </a:rPr>
              <a:t>How do you evaluate memory?</a:t>
            </a:r>
            <a:endParaRPr lang="en-US" sz="1300" dirty="0"/>
          </a:p>
        </p:txBody>
      </p:sp>
      <p:sp>
        <p:nvSpPr>
          <p:cNvPr id="17" name="a 4"/>
          <p:cNvSpPr txBox="1"/>
          <p:nvPr/>
        </p:nvSpPr>
        <p:spPr>
          <a:xfrm>
            <a:off x="822960" y="4544568"/>
            <a:ext cx="4983480" cy="749808"/>
          </a:xfrm>
          <a:prstGeom prst="rect">
            <a:avLst/>
          </a:prstGeom>
          <a:noFill/>
          <a:ln/>
        </p:spPr>
        <p:txBody>
          <a:bodyPr wrap="square" lIns="0" tIns="0" rIns="0" bIns="0" rtlCol="0" anchor="t"/>
          <a:lstStyle/>
          <a:p>
            <a:pPr indent="0" marL="0">
              <a:buNone/>
            </a:pPr>
            <a:r>
              <a:rPr lang="en-US" sz="1150" dirty="0">
                <a:solidFill>
                  <a:schemeClr val="tx1"/>
                </a:solidFill>
              </a:rPr>
              <a:t>Not with LoCoMo alone: its answer key fails audit at 6.4%. Use LongMemEval-V2 / BEAM plus your own logs, and test the model x harness pair.</a:t>
            </a:r>
            <a:endParaRPr lang="en-US" sz="1150" dirty="0"/>
          </a:p>
        </p:txBody>
      </p:sp>
      <p:sp>
        <p:nvSpPr>
          <p:cNvPr id="18" name="qa 5"/>
          <p:cNvSpPr/>
          <p:nvPr/>
        </p:nvSpPr>
        <p:spPr>
          <a:xfrm>
            <a:off x="6172200" y="4114800"/>
            <a:ext cx="5349240" cy="1234440"/>
          </a:xfrm>
          <a:prstGeom prst="roundRect">
            <a:avLst>
              <a:gd name="adj" fmla="val 7407"/>
            </a:avLst>
          </a:prstGeom>
          <a:solidFill>
            <a:srgbClr val="F1EEE8"/>
          </a:solidFill>
          <a:ln w="12700">
            <a:solidFill>
              <a:srgbClr val="F1EEE8"/>
            </a:solidFill>
            <a:prstDash val="solid"/>
          </a:ln>
        </p:spPr>
      </p:sp>
      <p:sp>
        <p:nvSpPr>
          <p:cNvPr id="19" name="q 5"/>
          <p:cNvSpPr txBox="1"/>
          <p:nvPr/>
        </p:nvSpPr>
        <p:spPr>
          <a:xfrm>
            <a:off x="6355080" y="4206240"/>
            <a:ext cx="4983480" cy="320040"/>
          </a:xfrm>
          <a:prstGeom prst="rect">
            <a:avLst/>
          </a:prstGeom>
          <a:noFill/>
          <a:ln/>
        </p:spPr>
        <p:txBody>
          <a:bodyPr wrap="square" lIns="0" tIns="0" rIns="0" bIns="0" rtlCol="0" anchor="ctr"/>
          <a:lstStyle/>
          <a:p>
            <a:pPr indent="0" marL="0">
              <a:buNone/>
            </a:pPr>
            <a:r>
              <a:rPr lang="en-US" sz="1300" b="1" dirty="0">
                <a:solidFill>
                  <a:schemeClr val="accent1"/>
                </a:solidFill>
              </a:rPr>
              <a:t>What is DeepMind doing?</a:t>
            </a:r>
            <a:endParaRPr lang="en-US" sz="1300" dirty="0"/>
          </a:p>
        </p:txBody>
      </p:sp>
      <p:sp>
        <p:nvSpPr>
          <p:cNvPr id="20" name="a 5"/>
          <p:cNvSpPr txBox="1"/>
          <p:nvPr/>
        </p:nvSpPr>
        <p:spPr>
          <a:xfrm>
            <a:off x="6355080" y="4544568"/>
            <a:ext cx="4983480" cy="749808"/>
          </a:xfrm>
          <a:prstGeom prst="rect">
            <a:avLst/>
          </a:prstGeom>
          <a:noFill/>
          <a:ln/>
        </p:spPr>
        <p:txBody>
          <a:bodyPr wrap="square" lIns="0" tIns="0" rIns="0" bIns="0" rtlCol="0" anchor="t"/>
          <a:lstStyle/>
          <a:p>
            <a:pPr indent="0" marL="0">
              <a:buNone/>
            </a:pPr>
            <a:r>
              <a:rPr lang="en-US" sz="1150" dirty="0">
                <a:solidFill>
                  <a:schemeClr val="tx1"/>
                </a:solidFill>
              </a:rPr>
              <a:t>I can speak to published work: Titans, Nested Learning, Hope. Personal views only on the rest.</a:t>
            </a:r>
            <a:endParaRPr lang="en-US" sz="1150" dirty="0"/>
          </a:p>
        </p:txBody>
      </p:sp>
      <p:sp>
        <p:nvSpPr>
          <p:cNvPr id="21" name="talk strip"/>
          <p:cNvSpPr/>
          <p:nvPr/>
        </p:nvSpPr>
        <p:spPr>
          <a:xfrm>
            <a:off x="640080" y="5532120"/>
            <a:ext cx="10881360" cy="731520"/>
          </a:xfrm>
          <a:prstGeom prst="roundRect">
            <a:avLst>
              <a:gd name="adj" fmla="val 12500"/>
            </a:avLst>
          </a:prstGeom>
          <a:solidFill>
            <a:srgbClr val="FDE4D3"/>
          </a:solidFill>
          <a:ln w="12700">
            <a:solidFill>
              <a:srgbClr val="FDE4D3"/>
            </a:solidFill>
            <a:prstDash val="solid"/>
          </a:ln>
        </p:spPr>
      </p:sp>
      <p:sp>
        <p:nvSpPr>
          <p:cNvPr id="22" name="talk text"/>
          <p:cNvSpPr txBox="1"/>
          <p:nvPr/>
        </p:nvSpPr>
        <p:spPr>
          <a:xfrm>
            <a:off x="822960" y="5577840"/>
            <a:ext cx="10515600" cy="640080"/>
          </a:xfrm>
          <a:prstGeom prst="rect">
            <a:avLst/>
          </a:prstGeom>
          <a:noFill/>
          <a:ln/>
        </p:spPr>
        <p:txBody>
          <a:bodyPr wrap="square" lIns="0" tIns="0" rIns="0" bIns="0" rtlCol="0" anchor="ctr"/>
          <a:lstStyle/>
          <a:p>
            <a:pPr indent="0" marL="0">
              <a:buNone/>
            </a:pPr>
            <a:r>
              <a:rPr lang="en-US" sz="1300" b="1" i="1" dirty="0">
                <a:solidFill>
                  <a:schemeClr val="accent1"/>
                </a:solidFill>
              </a:rPr>
              <a:t>Say: </a:t>
            </a:r>
            <a:pPr indent="0" marL="0">
              <a:buNone/>
            </a:pPr>
            <a:r>
              <a:rPr lang="en-US" sz="1300" i="1" dirty="0">
                <a:solidFill>
                  <a:schemeClr val="tx1"/>
                </a:solidFill>
              </a:rPr>
              <a:t>Keep answers under 30 seconds. Audience votes after each round, so land one memorable line per round.</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463040"/>
          </a:xfrm>
          <a:prstGeom prst="rect">
            <a:avLst/>
          </a:prstGeom>
          <a:noFill/>
          <a:ln/>
        </p:spPr>
        <p:txBody>
          <a:bodyPr wrap="square" lIns="0" tIns="0" rIns="0" bIns="0" rtlCol="0"/>
          <a:lstStyle/>
          <a:p>
            <a:pPr algn="l" indent="0" marL="0">
              <a:buNone/>
            </a:pPr>
            <a:r>
              <a:rPr lang="en-US" sz="4800" b="1" dirty="0">
                <a:solidFill>
                  <a:schemeClr val="bg1"/>
                </a:solidFill>
              </a:rPr>
              <a:t>Wrap-up: my six-month bet</a:t>
            </a:r>
            <a:endParaRPr lang="en-US" sz="4800" dirty="0"/>
          </a:p>
        </p:txBody>
      </p:sp>
      <p:sp>
        <p:nvSpPr>
          <p:cNvPr id="3" name="Text 0"/>
          <p:cNvSpPr/>
          <p:nvPr>
            <p:ph idx="101" type="body" hasCustomPrompt="1"/>
          </p:nvPr>
        </p:nvSpPr>
        <p:spPr>
          <a:xfrm>
            <a:off x="731520" y="3566160"/>
            <a:ext cx="10058400" cy="1463040"/>
          </a:xfrm>
          <a:prstGeom prst="rect">
            <a:avLst/>
          </a:prstGeom>
          <a:noFill/>
          <a:ln/>
        </p:spPr>
        <p:txBody>
          <a:bodyPr wrap="square" lIns="0" tIns="0" rIns="0" bIns="0" rtlCol="0"/>
          <a:lstStyle/>
          <a:p>
            <a:pPr algn="l" indent="0" marL="0">
              <a:buNone/>
            </a:pPr>
            <a:r>
              <a:rPr lang="en-US" sz="2000" dirty="0">
                <a:solidFill>
                  <a:schemeClr val="accent6"/>
                </a:solidFill>
              </a:rPr>
              <a:t>"By spring, the best agents will learn from every session without a single gradient update, and the first frontier model to ship test-time weight updates will make that look quaint."</a:t>
            </a:r>
            <a:endParaRPr lang="en-US" sz="2000" dirty="0"/>
          </a:p>
        </p:txBody>
      </p:sp>
      <p:sp>
        <p:nvSpPr>
          <p:cNvPr id="4" name="one liners"/>
          <p:cNvSpPr txBox="1"/>
          <p:nvPr/>
        </p:nvSpPr>
        <p:spPr>
          <a:xfrm>
            <a:off x="731520" y="4892040"/>
            <a:ext cx="10698480" cy="1645920"/>
          </a:xfrm>
          <a:prstGeom prst="rect">
            <a:avLst/>
          </a:prstGeom>
          <a:noFill/>
          <a:ln/>
        </p:spPr>
        <p:txBody>
          <a:bodyPr wrap="square" lIns="0" tIns="0" rIns="0" bIns="0" rtlCol="0" anchor="t"/>
          <a:lstStyle/>
          <a:p>
            <a:pPr indent="0" marL="0">
              <a:buNone/>
            </a:pPr>
            <a:r>
              <a:rPr lang="en-US" sz="1300" b="1" dirty="0">
                <a:solidFill>
                  <a:schemeClr val="accent4"/>
                </a:solidFill>
              </a:rPr>
              <a:t>One-liners to reuse</a:t>
            </a:r>
            <a:endParaRPr lang="en-US" sz="1300" dirty="0"/>
          </a:p>
          <a:p>
            <a:pPr marL="342900" indent="-342900">
              <a:spcAft>
                <a:spcPts val="400"/>
              </a:spcAft>
              <a:buSzPct val="100000"/>
              <a:buChar char="•"/>
            </a:pPr>
            <a:r>
              <a:rPr lang="en-US" sz="1300" dirty="0">
                <a:solidFill>
                  <a:schemeClr val="bg1"/>
                </a:solidFill>
              </a:rPr>
              <a:t>Context is RAM, the store is disk, weights are the OS.</a:t>
            </a:r>
            <a:endParaRPr lang="en-US" sz="1300" dirty="0"/>
          </a:p>
          <a:p>
            <a:pPr marL="342900" indent="-342900">
              <a:spcAft>
                <a:spcPts val="400"/>
              </a:spcAft>
              <a:buSzPct val="100000"/>
              <a:buChar char="•"/>
            </a:pPr>
            <a:r>
              <a:rPr lang="en-US" sz="1300" dirty="0">
                <a:solidFill>
                  <a:schemeClr val="bg1"/>
                </a:solidFill>
              </a:rPr>
              <a:t>Benchmarks measure one sitting; users judge next Tuesday.</a:t>
            </a:r>
            <a:endParaRPr lang="en-US" sz="1300" dirty="0"/>
          </a:p>
          <a:p>
            <a:pPr marL="342900" indent="-342900">
              <a:spcAft>
                <a:spcPts val="400"/>
              </a:spcAft>
              <a:buSzPct val="100000"/>
              <a:buChar char="•"/>
            </a:pPr>
            <a:r>
              <a:rPr lang="en-US" sz="1300" dirty="0">
                <a:solidFill>
                  <a:schemeClr val="bg1"/>
                </a:solidFill>
              </a:rPr>
              <a:t>Open routing commoditizes memory outside the model, never inside it.</a:t>
            </a:r>
            <a:endParaRPr lang="en-US" sz="1300" dirty="0"/>
          </a:p>
          <a:p>
            <a:pPr marL="342900" indent="-342900">
              <a:buSzPct val="100000"/>
              <a:buChar char="•"/>
            </a:pPr>
            <a:r>
              <a:rPr lang="en-US" sz="1300" dirty="0">
                <a:solidFill>
                  <a:schemeClr val="bg1"/>
                </a:solidFill>
              </a:rPr>
              <a:t>If the tokens are free, you are the inventory.</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777240"/>
          </a:xfrm>
          <a:prstGeom prst="rect">
            <a:avLst/>
          </a:prstGeom>
          <a:noFill/>
          <a:ln/>
        </p:spPr>
        <p:txBody>
          <a:bodyPr wrap="square" lIns="0" tIns="0" rIns="0" bIns="0" rtlCol="0"/>
          <a:lstStyle/>
          <a:p>
            <a:pPr algn="l" indent="0" marL="0">
              <a:buNone/>
            </a:pPr>
            <a:r>
              <a:rPr lang="en-US" sz="2600" b="1" dirty="0">
                <a:solidFill>
                  <a:schemeClr val="tx1"/>
                </a:solidFill>
              </a:rPr>
              <a:t>Sources</a:t>
            </a:r>
            <a:endParaRPr lang="en-US" sz="2600" dirty="0"/>
          </a:p>
        </p:txBody>
      </p:sp>
      <p:sp>
        <p:nvSpPr>
          <p:cNvPr id="3" name="sources"/>
          <p:cNvSpPr txBox="1"/>
          <p:nvPr/>
        </p:nvSpPr>
        <p:spPr>
          <a:xfrm>
            <a:off x="640080" y="1325880"/>
            <a:ext cx="10881360" cy="493776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tx2"/>
                </a:solidFill>
              </a:rPr>
              <a:t>TTT-E2E: End-to-End Test-Time Training for Long Context, arXiv 2512.23675 (NVIDIA, Stanford, Berkeley, UCSD, Astera); The Batch summary</a:t>
            </a:r>
            <a:endParaRPr lang="en-US" sz="1150" dirty="0"/>
          </a:p>
          <a:p>
            <a:pPr marL="342900" indent="-342900">
              <a:spcAft>
                <a:spcPts val="500"/>
              </a:spcAft>
              <a:buSzPct val="100000"/>
              <a:buChar char="•"/>
            </a:pPr>
            <a:r>
              <a:rPr lang="en-US" sz="1150" dirty="0">
                <a:solidFill>
                  <a:schemeClr val="tx2"/>
                </a:solidFill>
              </a:rPr>
              <a:t>Nested Learning: The Illusion of Deep Learning Architectures, Behrouz et al., Google, NeurIPS 2025, arXiv 2512.24695; Titans, arXiv 2501.00663</a:t>
            </a:r>
            <a:endParaRPr lang="en-US" sz="1150" dirty="0"/>
          </a:p>
          <a:p>
            <a:pPr marL="342900" indent="-342900">
              <a:spcAft>
                <a:spcPts val="500"/>
              </a:spcAft>
              <a:buSzPct val="100000"/>
              <a:buChar char="•"/>
            </a:pPr>
            <a:r>
              <a:rPr lang="en-US" sz="1150" dirty="0">
                <a:solidFill>
                  <a:schemeClr val="tx2"/>
                </a:solidFill>
              </a:rPr>
              <a:t>Learning on the Job: Continual Learning from Deployment Feedback for Frozen-Weights Agents, arXiv 2607.22157; When Continual Learning Moves to Memory, arXiv 2604.27003</a:t>
            </a:r>
            <a:endParaRPr lang="en-US" sz="1150" dirty="0"/>
          </a:p>
          <a:p>
            <a:pPr marL="342900" indent="-342900">
              <a:spcAft>
                <a:spcPts val="500"/>
              </a:spcAft>
              <a:buSzPct val="100000"/>
              <a:buChar char="•"/>
            </a:pPr>
            <a:r>
              <a:rPr lang="en-US" sz="1150" dirty="0">
                <a:solidFill>
                  <a:schemeClr val="tx2"/>
                </a:solidFill>
              </a:rPr>
              <a:t>Position: Modular Memory is the Key to Continual Learning Agents, arXiv 2603.01761; Letta, Continual Learning in Token Space (blog)</a:t>
            </a:r>
            <a:endParaRPr lang="en-US" sz="1150" dirty="0"/>
          </a:p>
          <a:p>
            <a:pPr marL="342900" indent="-342900">
              <a:spcAft>
                <a:spcPts val="500"/>
              </a:spcAft>
              <a:buSzPct val="100000"/>
              <a:buChar char="•"/>
            </a:pPr>
            <a:r>
              <a:rPr lang="en-US" sz="1150" dirty="0">
                <a:solidFill>
                  <a:schemeClr val="tx2"/>
                </a:solidFill>
              </a:rPr>
              <a:t>User as Engram, arXiv 2606.19172; Instant Personalized LLM Adaptation via Hypernetwork, arXiv 2510.16282; S-LoRA (MLSys 2024); PLoRA, arXiv 2608.05483</a:t>
            </a:r>
            <a:endParaRPr lang="en-US" sz="1150" dirty="0"/>
          </a:p>
          <a:p>
            <a:pPr marL="342900" indent="-342900">
              <a:spcAft>
                <a:spcPts val="500"/>
              </a:spcAft>
              <a:buSzPct val="100000"/>
              <a:buChar char="•"/>
            </a:pPr>
            <a:r>
              <a:rPr lang="en-US" sz="1150" dirty="0">
                <a:solidFill>
                  <a:schemeClr val="tx2"/>
                </a:solidFill>
              </a:rPr>
              <a:t>OpenAI Help Center: Ads in ChatGPT; ChatGPT release notes (Jun 2026 memory update). Engadget: Claude memory across Chat and Cowork; Anthropic Managed Agents memory beta; Claude Dreaming coverage (May 2026)</a:t>
            </a:r>
            <a:endParaRPr lang="en-US" sz="1150" dirty="0"/>
          </a:p>
          <a:p>
            <a:pPr marL="342900" indent="-342900">
              <a:spcAft>
                <a:spcPts val="500"/>
              </a:spcAft>
              <a:buSzPct val="100000"/>
              <a:buChar char="•"/>
            </a:pPr>
            <a:r>
              <a:rPr lang="en-US" sz="1150" dirty="0">
                <a:solidFill>
                  <a:schemeClr val="tx2"/>
                </a:solidFill>
              </a:rPr>
              <a:t>9to5Google: Gemini Live memory (Jun 18 2026); Android Authority: Gemini Personal Intelligence rollout</a:t>
            </a:r>
            <a:endParaRPr lang="en-US" sz="1150" dirty="0"/>
          </a:p>
          <a:p>
            <a:pPr marL="342900" indent="-342900">
              <a:spcAft>
                <a:spcPts val="500"/>
              </a:spcAft>
              <a:buSzPct val="100000"/>
              <a:buChar char="•"/>
            </a:pPr>
            <a:r>
              <a:rPr lang="en-US" sz="1150" dirty="0">
                <a:solidFill>
                  <a:schemeClr val="tx2"/>
                </a:solidFill>
              </a:rPr>
              <a:t>Mem0, State of AI Agent Memory 2026 and benchmark guide; LongMemEval-V2, arXiv 2605.12493; When Does Memory Help?, arXiv 2609.05441</a:t>
            </a:r>
            <a:endParaRPr lang="en-US" sz="1150" dirty="0"/>
          </a:p>
          <a:p>
            <a:pPr marL="342900" indent="-342900">
              <a:spcAft>
                <a:spcPts val="500"/>
              </a:spcAft>
              <a:buSzPct val="100000"/>
              <a:buChar char="•"/>
            </a:pPr>
            <a:r>
              <a:rPr lang="en-US" sz="1150" dirty="0">
                <a:solidFill>
                  <a:schemeClr val="tx2"/>
                </a:solidFill>
              </a:rPr>
              <a:t>Memory poisoning: From Untrusted Input to Trusted Memory, ICML 2026, arXiv 2606.04329; OWASP Top 10 for Agentic Applications ASI06; Microsoft Threat Intelligence (Feb 2026)</a:t>
            </a:r>
            <a:endParaRPr lang="en-US" sz="1150" dirty="0"/>
          </a:p>
          <a:p>
            <a:pPr marL="342900" indent="-342900">
              <a:spcAft>
                <a:spcPts val="500"/>
              </a:spcAft>
              <a:buSzPct val="100000"/>
              <a:buChar char="•"/>
            </a:pPr>
            <a:r>
              <a:rPr lang="en-US" sz="1150" dirty="0">
                <a:solidFill>
                  <a:schemeClr val="tx2"/>
                </a:solidFill>
              </a:rPr>
              <a:t>Dwarkesh Patel x Andrej Karpathy interview (Oct 2025); Dwarkesh on continual learning as bottleneck; CACM, Is Recursive Self-Improvement Really Here?</a:t>
            </a:r>
            <a:endParaRPr lang="en-US" sz="115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Memory Weights">
  <a:themeElements>
    <a:clrScheme name="Memory Weights">
      <a:dk1>
        <a:srgbClr val="14181F"/>
      </a:dk1>
      <a:lt1>
        <a:srgbClr val="FFFFFF"/>
      </a:lt1>
      <a:dk2>
        <a:srgbClr val="3A4250"/>
      </a:dk2>
      <a:lt2>
        <a:srgbClr val="F1EEE8"/>
      </a:lt2>
      <a:accent1>
        <a:srgbClr val="C2410C"/>
      </a:accent1>
      <a:accent2>
        <a:srgbClr val="7C3AED"/>
      </a:accent2>
      <a:accent3>
        <a:srgbClr val="0F766E"/>
      </a:accent3>
      <a:accent4>
        <a:srgbClr val="F59E0B"/>
      </a:accent4>
      <a:accent5>
        <a:srgbClr val="64748B"/>
      </a:accent5>
      <a:accent6>
        <a:srgbClr val="FDE4D3"/>
      </a:accent6>
      <a:hlink>
        <a:srgbClr val="C2410C"/>
      </a:hlink>
      <a:folHlink>
        <a:srgbClr val="7C3AED"/>
      </a:folHlink>
    </a:clrScheme>
    <a:fontScheme name="Memory Weigh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as Weights — Panel Prep</dc:title>
  <dc:subject>PptxGenJS Presentation</dc:subject>
  <dc:creator>Jaidev Shah</dc:creator>
  <cp:lastModifiedBy>Jaidev Shah</cp:lastModifiedBy>
  <cp:revision>1</cp:revision>
  <dcterms:created xsi:type="dcterms:W3CDTF">2026-10-04T21:13:41Z</dcterms:created>
  <dcterms:modified xsi:type="dcterms:W3CDTF">2026-10-04T21:13:41Z</dcterms:modified>
</cp:coreProperties>
</file>